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y="6858000" cx="12191675"/>
  <p:notesSz cx="6858000" cy="12191675"/>
  <p:embeddedFontLst>
    <p:embeddedFont>
      <p:font typeface="Noto Sans"/>
      <p:regular r:id="rId47"/>
      <p:bold r:id="rId48"/>
      <p:italic r:id="rId49"/>
      <p:boldItalic r:id="rId50"/>
    </p:embeddedFont>
    <p:embeddedFont>
      <p:font typeface="Cambria Math"/>
      <p:regular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NotoSans-bold.fntdata"/><Relationship Id="rId47" Type="http://schemas.openxmlformats.org/officeDocument/2006/relationships/font" Target="fonts/NotoSans-regular.fntdata"/><Relationship Id="rId49" Type="http://schemas.openxmlformats.org/officeDocument/2006/relationships/font" Target="fonts/Noto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CambriaMath-regular.fntdata"/><Relationship Id="rId50" Type="http://schemas.openxmlformats.org/officeDocument/2006/relationships/font" Target="fonts/Noto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5" name="Google Shape;44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5" name="Google Shape;46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5" name="Google Shape;48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2" name="Google Shape;50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7" name="Google Shape;55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7" name="Google Shape;56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4" name="Google Shape;61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5" name="Google Shape;74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8" name="Google Shape;80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1" name="Google Shape;87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9" name="Google Shape;889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8" name="Google Shape;92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9" name="Google Shape;92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8" name="Google Shape;96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9" name="Google Shape;969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4" name="Google Shape;98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0" name="Google Shape;100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1" name="Google Shape;1001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0" name="Google Shape;1010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1" name="Google Shape;1011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408741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408741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349240" y="384048"/>
            <a:ext cx="1508760" cy="1508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839E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5D839E"/>
                </a:solidFill>
                <a:latin typeface="Noto Sans"/>
                <a:ea typeface="Noto Sans"/>
                <a:cs typeface="Noto Sans"/>
                <a:sym typeface="Noto Sans"/>
              </a:rPr>
              <a:t>SDC</a:t>
            </a:r>
            <a:endParaRPr b="0" i="0" sz="2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0" y="1993392"/>
            <a:ext cx="12191695" cy="1417320"/>
          </a:xfrm>
          <a:prstGeom prst="rect">
            <a:avLst/>
          </a:prstGeom>
          <a:solidFill>
            <a:srgbClr val="5D839E"/>
          </a:solidFill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Selective Distributional Consistency</a:t>
            </a:r>
            <a:endParaRPr b="0" i="0" sz="2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適用於遮罩擴散語言模型（MDLM）的置信度一致性框架</a:t>
            </a:r>
            <a:endParaRPr b="0" i="0" sz="2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5806440" y="3822192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3108960" y="4069080"/>
            <a:ext cx="5989320" cy="457200"/>
          </a:xfrm>
          <a:prstGeom prst="rect">
            <a:avLst/>
          </a:prstGeom>
          <a:solidFill>
            <a:srgbClr val="5D839E">
              <a:alpha val="90196"/>
            </a:srgbClr>
          </a:solidFill>
          <a:ln cap="flat" cmpd="sng" w="9525">
            <a:solidFill>
              <a:srgbClr val="5D839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Noto San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Reporter：鄭方喆    Date：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D839E"/>
          </a:solidFill>
          <a:ln>
            <a:noFill/>
          </a:ln>
        </p:spPr>
        <p:txBody>
          <a:bodyPr anchorCtr="0" anchor="ctr" bIns="6350" lIns="6350" spcFirstLastPara="1" rIns="6350" wrap="square" tIns="6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CONTENTS</a:t>
            </a:r>
            <a:endParaRPr b="0" i="0" sz="3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005840" y="1600200"/>
            <a:ext cx="777240" cy="77724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oto Sans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057400" y="170992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2100"/>
              <a:buFont typeface="Noto Sans"/>
              <a:buNone/>
            </a:pPr>
            <a:r>
              <a:rPr b="1" i="0" lang="en-US" sz="21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Introduction</a:t>
            </a:r>
            <a:endParaRPr b="0" i="0" sz="2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2057400" y="207568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Page 3 ~ Page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0" y="1600200"/>
            <a:ext cx="777240" cy="77724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oto Sans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452347" y="1709924"/>
            <a:ext cx="3719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2100"/>
              <a:buFont typeface="Noto Sans"/>
              <a:buNone/>
            </a:pPr>
            <a:r>
              <a:rPr b="1" i="0" lang="en-US" sz="21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Related works &amp; MDLM</a:t>
            </a:r>
            <a:endParaRPr b="0" i="0" sz="2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7452360" y="207568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Page 9 ~ Page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05840" y="3154680"/>
            <a:ext cx="777240" cy="77724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oto Sans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057400" y="326440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2100"/>
              <a:buFont typeface="Noto Sans"/>
              <a:buNone/>
            </a:pPr>
            <a:r>
              <a:rPr b="1" i="0" lang="en-US" sz="21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Proposed method</a:t>
            </a:r>
            <a:endParaRPr b="0" i="0" sz="2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2057400" y="363016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Page 15 ~ Page 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400800" y="3154680"/>
            <a:ext cx="777240" cy="77724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oto Sans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b="0" i="0" sz="2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452360" y="326440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2100"/>
              <a:buFont typeface="Noto Sans"/>
              <a:buNone/>
            </a:pPr>
            <a:r>
              <a:rPr b="1" i="0" lang="en-US" sz="21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Experiment results</a:t>
            </a:r>
            <a:endParaRPr b="0" i="0" sz="2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452360" y="363016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Page 27 ~ Page 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703320" y="4892040"/>
            <a:ext cx="777240" cy="77724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oto Sans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b="0" i="0" sz="2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754880" y="500176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2100"/>
              <a:buFont typeface="Noto Sans"/>
              <a:buNone/>
            </a:pPr>
            <a:r>
              <a:rPr b="1" i="0" lang="en-US" sz="21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Conclusion</a:t>
            </a:r>
            <a:endParaRPr b="0" i="0" sz="2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754880" y="536752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Page 41 ~ Page 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5367528" y="384048"/>
            <a:ext cx="146304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839E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5D839E"/>
                </a:solidFill>
                <a:latin typeface="Noto Sans"/>
                <a:ea typeface="Noto Sans"/>
                <a:cs typeface="Noto Sans"/>
                <a:sym typeface="Noto Sans"/>
              </a:rPr>
              <a:t>SDC</a:t>
            </a:r>
            <a:endParaRPr b="0" i="0" sz="2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0" y="1901952"/>
            <a:ext cx="12191695" cy="1280160"/>
          </a:xfrm>
          <a:prstGeom prst="rect">
            <a:avLst/>
          </a:prstGeom>
          <a:solidFill>
            <a:srgbClr val="5D83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Noto San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Introduction</a:t>
            </a:r>
            <a:endParaRPr b="0" i="0" sz="3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2" name="Google Shape;52;p5"/>
          <p:cNvCxnSpPr/>
          <p:nvPr/>
        </p:nvCxnSpPr>
        <p:spPr>
          <a:xfrm>
            <a:off x="5779008" y="3794760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5"/>
          <p:cNvSpPr/>
          <p:nvPr/>
        </p:nvSpPr>
        <p:spPr>
          <a:xfrm>
            <a:off x="5248656" y="4069080"/>
            <a:ext cx="1691640" cy="402336"/>
          </a:xfrm>
          <a:prstGeom prst="rect">
            <a:avLst/>
          </a:prstGeom>
          <a:solidFill>
            <a:srgbClr val="5D839E">
              <a:alpha val="9019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ONE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Part1: Introduction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Background — language generation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4/42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6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6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6"/>
          <p:cNvSpPr/>
          <p:nvPr/>
        </p:nvSpPr>
        <p:spPr>
          <a:xfrm>
            <a:off x="640080" y="1170432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語言模型通常被視為「從上下文預測 token」；差別在於模型如何決定預測順序。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822960" y="2057400"/>
            <a:ext cx="2011680" cy="777240"/>
          </a:xfrm>
          <a:prstGeom prst="rect">
            <a:avLst/>
          </a:prstGeom>
          <a:solidFill>
            <a:srgbClr val="F0F3F5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Autoregressive LM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left-to-right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074920" y="2057400"/>
            <a:ext cx="2011680" cy="777240"/>
          </a:xfrm>
          <a:prstGeom prst="rect">
            <a:avLst/>
          </a:prstGeom>
          <a:solidFill>
            <a:srgbClr val="F0F3F5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Masked LM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partial context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9281160" y="2057400"/>
            <a:ext cx="2148840" cy="777240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Masked Diffusion LM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iterative denoising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822960" y="3337560"/>
            <a:ext cx="2011680" cy="54864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1600"/>
              <a:buFont typeface="Cambria Math"/>
              <a:buNone/>
            </a:pPr>
            <a:r>
              <a:rPr b="0" i="0" lang="en-US" sz="1600" u="none" cap="none" strike="noStrike">
                <a:solidFill>
                  <a:srgbClr val="3F6179"/>
                </a:solidFill>
                <a:latin typeface="Cambria Math"/>
                <a:ea typeface="Cambria Math"/>
                <a:cs typeface="Cambria Math"/>
                <a:sym typeface="Cambria Math"/>
              </a:rPr>
              <a:t>x₁ → x₂ → ⋯ → xₙ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5074920" y="3337560"/>
            <a:ext cx="2011680" cy="54864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1600"/>
              <a:buFont typeface="Cambria Math"/>
              <a:buNone/>
            </a:pPr>
            <a:r>
              <a:rPr b="0" i="0" lang="en-US" sz="1600" u="none" cap="none" strike="noStrike">
                <a:solidFill>
                  <a:srgbClr val="3F6179"/>
                </a:solidFill>
                <a:latin typeface="Cambria Math"/>
                <a:ea typeface="Cambria Math"/>
                <a:cs typeface="Cambria Math"/>
                <a:sym typeface="Cambria Math"/>
              </a:rPr>
              <a:t>predict [MASK]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9281160" y="3337560"/>
            <a:ext cx="2148840" cy="54864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1600"/>
              <a:buFont typeface="Cambria Math"/>
              <a:buNone/>
            </a:pPr>
            <a:r>
              <a:rPr b="0" i="0" lang="en-US" sz="1600" u="none" cap="none" strike="noStrike">
                <a:solidFill>
                  <a:srgbClr val="3F6179"/>
                </a:solidFill>
                <a:latin typeface="Cambria Math"/>
                <a:ea typeface="Cambria Math"/>
                <a:cs typeface="Cambria Math"/>
                <a:sym typeface="Cambria Math"/>
              </a:rPr>
              <a:t>[MASK]ⁿ → xₜ → x₀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822960" y="4572000"/>
            <a:ext cx="105156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50"/>
              <a:buFont typeface="Noto Sans"/>
              <a:buNone/>
            </a:pPr>
            <a:r>
              <a:rPr b="0" i="0" lang="en-US" sz="15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AR LM 依序生成，解碼順序固定。</a:t>
            </a:r>
            <a:endParaRPr b="0" i="0" sz="15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50"/>
              <a:buFont typeface="Noto Sans"/>
              <a:buNone/>
            </a:pPr>
            <a:r>
              <a:rPr b="0" i="0" lang="en-US" sz="15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MDLM 從高度遮罩序列開始，逐步恢復原始 token。</a:t>
            </a:r>
            <a:endParaRPr b="0" i="0" sz="15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Part1: Introduction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Motivation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7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7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7"/>
          <p:cNvSpPr/>
          <p:nvPr/>
        </p:nvSpPr>
        <p:spPr>
          <a:xfrm>
            <a:off x="640080" y="1170432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標準 MDLM 的訓練問題：不同遮罩比例之間缺少明確一致性約束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1005840" y="1965960"/>
            <a:ext cx="2560320" cy="777240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低雜訊 view：xₛ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上下文較完整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1005840" y="3794760"/>
            <a:ext cx="2560320" cy="777240"/>
          </a:xfrm>
          <a:prstGeom prst="rect">
            <a:avLst/>
          </a:prstGeom>
          <a:solidFill>
            <a:srgbClr val="FCEFEF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高雜訊 view：xₜ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上下文較少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4754880" y="2880360"/>
            <a:ext cx="2743200" cy="868680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同一個目標 token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但預測分佈可能不同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8869680" y="2880360"/>
            <a:ext cx="2468880" cy="868680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需要 cross-level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distribution alignment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90" name="Google Shape;90;p7"/>
          <p:cNvCxnSpPr/>
          <p:nvPr/>
        </p:nvCxnSpPr>
        <p:spPr>
          <a:xfrm>
            <a:off x="3611880" y="2331720"/>
            <a:ext cx="1005840" cy="795528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1" name="Google Shape;91;p7"/>
          <p:cNvCxnSpPr/>
          <p:nvPr/>
        </p:nvCxnSpPr>
        <p:spPr>
          <a:xfrm flipH="1" rot="10800000">
            <a:off x="3611880" y="3493008"/>
            <a:ext cx="1005840" cy="667512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" name="Google Shape;92;p7"/>
          <p:cNvCxnSpPr/>
          <p:nvPr/>
        </p:nvCxnSpPr>
        <p:spPr>
          <a:xfrm>
            <a:off x="7635240" y="3310128"/>
            <a:ext cx="105156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" name="Google Shape;93;p7"/>
          <p:cNvSpPr/>
          <p:nvPr/>
        </p:nvSpPr>
        <p:spPr>
          <a:xfrm>
            <a:off x="4526280" y="1691640"/>
            <a:ext cx="3246120" cy="50292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1700"/>
              <a:buFont typeface="Cambria Math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526280" y="4343400"/>
            <a:ext cx="3246120" cy="50292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1700"/>
              <a:buFont typeface="Cambria Math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822960" y="534924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450"/>
              <a:buFont typeface="Noto Sans"/>
              <a:buNone/>
            </a:pPr>
            <a:r>
              <a:rPr b="1" i="0" lang="en-US" sz="15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問題：跨遮罩層級的預測可能不一致</a:t>
            </a:r>
            <a:endParaRPr b="1" i="0" sz="1550" u="none" cap="none" strike="noStrike">
              <a:solidFill>
                <a:srgbClr val="2331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450"/>
              <a:buFont typeface="Noto Sans"/>
              <a:buNone/>
            </a:pPr>
            <a:r>
              <a:t/>
            </a:r>
            <a:endParaRPr b="0" i="0" sz="1550" u="none" cap="none" strike="noStrike">
              <a:solidFill>
                <a:srgbClr val="2331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450"/>
              <a:buFont typeface="Noto Sans"/>
              <a:buNone/>
            </a:pPr>
            <a:r>
              <a:rPr b="0" i="0" lang="en-US" sz="15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高雜訊代表高level，低雜訊代表低level</a:t>
            </a:r>
            <a:endParaRPr b="0" i="0" sz="1550" u="none" cap="none" strike="noStrike">
              <a:solidFill>
                <a:srgbClr val="2331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450"/>
              <a:buFont typeface="Noto Sans"/>
              <a:buNone/>
            </a:pPr>
            <a:r>
              <a:rPr b="0" i="0" lang="en-US" sz="15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原本 MDLM 只要求模型在單一 corruption level 下重建正確 token。</a:t>
            </a:r>
            <a:endParaRPr b="0" i="0" sz="1550" u="none" cap="none" strike="noStrike">
              <a:solidFill>
                <a:srgbClr val="2331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450"/>
              <a:buFont typeface="Noto Sans"/>
              <a:buNone/>
            </a:pPr>
            <a:r>
              <a:rPr b="0" i="0" lang="en-US" sz="15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但同一個 token 在不同遮罩比例下，模型可能給出不同的預測分佈。</a:t>
            </a:r>
            <a:endParaRPr b="0" i="0" sz="1550" u="none" cap="none" strike="noStrike">
              <a:solidFill>
                <a:srgbClr val="23313B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450"/>
              <a:buFont typeface="Noto Sans"/>
              <a:buNone/>
            </a:pPr>
            <a:r>
              <a:rPr b="0" i="0" lang="en-US" sz="15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若 xₛ 與 xₜ 來自同一個 x₀，且某些位置都被 mask，這些位置應該對同一個 ground-truth token 有一致的判斷。</a:t>
            </a:r>
            <a:endParaRPr b="0" i="0" sz="1550" u="none" cap="none" strike="noStrike">
              <a:solidFill>
                <a:srgbClr val="23313B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s5_pred.png" id="96" name="Google Shape;9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4568" y="1720154"/>
            <a:ext cx="3209544" cy="4458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5_mask.png" id="97" name="Google Shape;9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4568" y="4448197"/>
            <a:ext cx="3209544" cy="29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Part1: Introduction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Research goal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8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8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8"/>
          <p:cNvSpPr/>
          <p:nvPr/>
        </p:nvSpPr>
        <p:spPr>
          <a:xfrm>
            <a:off x="685800" y="1234440"/>
            <a:ext cx="10835700" cy="64020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700"/>
              <a:buFont typeface="Noto Sans"/>
              <a:buNone/>
            </a:pPr>
            <a:r>
              <a:rPr b="0" i="0" lang="en-US" sz="17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Goal：在不改變 MDLM 架構的前提下，加入cross-level consistency。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868680" y="2560320"/>
            <a:ext cx="2057400" cy="868680"/>
          </a:xfrm>
          <a:prstGeom prst="rect">
            <a:avLst/>
          </a:prstGeom>
          <a:solidFill>
            <a:srgbClr val="F0F3F5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MDLM backbone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3657600" y="2560320"/>
            <a:ext cx="2057400" cy="868680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Add EMA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teacher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6446520" y="2560320"/>
            <a:ext cx="2057400" cy="868680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Select reliable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tokens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9235440" y="2560320"/>
            <a:ext cx="2148840" cy="868680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Regularize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student distribution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14" name="Google Shape;114;p8"/>
          <p:cNvCxnSpPr/>
          <p:nvPr/>
        </p:nvCxnSpPr>
        <p:spPr>
          <a:xfrm>
            <a:off x="3063240" y="2999232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" name="Google Shape;115;p8"/>
          <p:cNvCxnSpPr/>
          <p:nvPr/>
        </p:nvCxnSpPr>
        <p:spPr>
          <a:xfrm>
            <a:off x="5852160" y="2999232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" name="Google Shape;116;p8"/>
          <p:cNvCxnSpPr/>
          <p:nvPr/>
        </p:nvCxnSpPr>
        <p:spPr>
          <a:xfrm>
            <a:off x="8641080" y="2999232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" name="Google Shape;117;p8"/>
          <p:cNvSpPr/>
          <p:nvPr/>
        </p:nvSpPr>
        <p:spPr>
          <a:xfrm>
            <a:off x="868680" y="4434840"/>
            <a:ext cx="10241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50"/>
              <a:buFont typeface="Noto Sans"/>
              <a:buNone/>
            </a:pPr>
            <a:r>
              <a:rPr b="0" i="0" lang="en-US" sz="15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以低雜訊 xₛ 的 EMA teacher 分佈作為target。</a:t>
            </a:r>
            <a:endParaRPr b="0" i="0" sz="15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50"/>
              <a:buFont typeface="Noto Sans"/>
              <a:buNone/>
            </a:pPr>
            <a:r>
              <a:rPr b="0" i="0" lang="en-US" sz="15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只在 xₛ 與 xₜ 共同 masked、且 teacher confidence大於閾值的位置做 KL。</a:t>
            </a:r>
            <a:endParaRPr b="0" i="0" sz="15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50"/>
              <a:buFont typeface="Noto Sans"/>
              <a:buNone/>
            </a:pPr>
            <a:r>
              <a:rPr b="0" i="0" lang="en-US" sz="15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Total loss = 原本 MDLM CE + SDC KL regularizer。</a:t>
            </a:r>
            <a:endParaRPr b="0" i="0" sz="15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Part1: Introduction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Contributions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9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9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9"/>
          <p:cNvSpPr/>
          <p:nvPr/>
        </p:nvSpPr>
        <p:spPr>
          <a:xfrm>
            <a:off x="777240" y="1325880"/>
            <a:ext cx="566928" cy="56692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1554480" y="134416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Selective Distributional Consistency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1554480" y="1682496"/>
            <a:ext cx="9235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420"/>
              <a:buFont typeface="Noto Sans"/>
              <a:buNone/>
            </a:pPr>
            <a:r>
              <a:rPr b="0" i="0" lang="en-US" sz="14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提出適用於 MDLM 的 distribution consistency loss，在lcm loss不太適合。</a:t>
            </a:r>
            <a:endParaRPr b="0" i="0" sz="14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777240" y="2404872"/>
            <a:ext cx="566928" cy="56692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1554480" y="242316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Nested masking alignment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1554480" y="2761488"/>
            <a:ext cx="9235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420"/>
              <a:buFont typeface="Noto Sans"/>
              <a:buNone/>
            </a:pPr>
            <a:r>
              <a:rPr b="0" i="0" lang="en-US" sz="14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透過 Mask(xₛ) ⊆ Mask(xₜ) 建立相同目標 token 的結構對齊。</a:t>
            </a:r>
            <a:endParaRPr b="0" i="0" sz="14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777240" y="3483864"/>
            <a:ext cx="566928" cy="56692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1554480" y="350215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Confidence-aware KL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1554480" y="3840480"/>
            <a:ext cx="9235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420"/>
              <a:buFont typeface="Noto Sans"/>
              <a:buNone/>
            </a:pPr>
            <a:r>
              <a:rPr b="0" i="0" lang="en-US" sz="14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避免將不可靠的 teacher distribution 強加給 student。</a:t>
            </a:r>
            <a:endParaRPr b="0" i="0" sz="14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Part1: Introduction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Presentation flow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8/42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10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10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10"/>
          <p:cNvSpPr/>
          <p:nvPr/>
        </p:nvSpPr>
        <p:spPr>
          <a:xfrm>
            <a:off x="731520" y="2011680"/>
            <a:ext cx="2423160" cy="1005840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MDLM 基礎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Forward masking 與 sampling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3566160" y="2011680"/>
            <a:ext cx="2423160" cy="1005840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SDC 方法</a:t>
            </a:r>
            <a:b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Nested masks、confidence、KL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6400800" y="2011680"/>
            <a:ext cx="2423160" cy="1005840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訓練與評估</a:t>
            </a:r>
            <a:b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PPL 與 Generative PPL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9235440" y="2011680"/>
            <a:ext cx="2423160" cy="1005840"/>
          </a:xfrm>
          <a:prstGeom prst="rect">
            <a:avLst/>
          </a:prstGeom>
          <a:solidFill>
            <a:srgbClr val="F0F3F5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實驗結果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MDLM vs MDLM + SDC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53" name="Google Shape;153;p10"/>
          <p:cNvCxnSpPr/>
          <p:nvPr/>
        </p:nvCxnSpPr>
        <p:spPr>
          <a:xfrm>
            <a:off x="3291840" y="251460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4" name="Google Shape;154;p10"/>
          <p:cNvCxnSpPr/>
          <p:nvPr/>
        </p:nvCxnSpPr>
        <p:spPr>
          <a:xfrm>
            <a:off x="6126480" y="251460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" name="Google Shape;155;p10"/>
          <p:cNvCxnSpPr/>
          <p:nvPr/>
        </p:nvCxnSpPr>
        <p:spPr>
          <a:xfrm>
            <a:off x="8961120" y="251460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" name="Google Shape;156;p10"/>
          <p:cNvSpPr/>
          <p:nvPr/>
        </p:nvSpPr>
        <p:spPr>
          <a:xfrm>
            <a:off x="868680" y="4069080"/>
            <a:ext cx="10469880" cy="64008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700"/>
              <a:buFont typeface="Noto Sans"/>
              <a:buNone/>
            </a:pPr>
            <a:r>
              <a:rPr b="0" i="0" lang="en-US" sz="17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標準 MDLM 已有有效的 masked denoising；SDC 進一步約束不同遮罩比例下的預測分佈。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/>
          <p:nvPr/>
        </p:nvSpPr>
        <p:spPr>
          <a:xfrm>
            <a:off x="5367528" y="384048"/>
            <a:ext cx="146304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839E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5D839E"/>
                </a:solidFill>
                <a:latin typeface="Noto Sans"/>
                <a:ea typeface="Noto Sans"/>
                <a:cs typeface="Noto Sans"/>
                <a:sym typeface="Noto Sans"/>
              </a:rPr>
              <a:t>SDC</a:t>
            </a:r>
            <a:endParaRPr b="0" i="0" sz="2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0" y="1901952"/>
            <a:ext cx="12191695" cy="1280160"/>
          </a:xfrm>
          <a:prstGeom prst="rect">
            <a:avLst/>
          </a:prstGeom>
          <a:solidFill>
            <a:srgbClr val="5D83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Noto San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Related works &amp; MDLM</a:t>
            </a:r>
            <a:endParaRPr b="0" i="0" sz="3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64" name="Google Shape;164;p11"/>
          <p:cNvCxnSpPr/>
          <p:nvPr/>
        </p:nvCxnSpPr>
        <p:spPr>
          <a:xfrm>
            <a:off x="5779008" y="3794760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11"/>
          <p:cNvSpPr/>
          <p:nvPr/>
        </p:nvSpPr>
        <p:spPr>
          <a:xfrm>
            <a:off x="5248656" y="4069080"/>
            <a:ext cx="1691640" cy="402336"/>
          </a:xfrm>
          <a:prstGeom prst="rect">
            <a:avLst/>
          </a:prstGeom>
          <a:solidFill>
            <a:srgbClr val="5D839E">
              <a:alpha val="9019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TWO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Part2: Related works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Masked Diffusion Language Models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10/42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12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12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12"/>
          <p:cNvSpPr/>
          <p:nvPr/>
        </p:nvSpPr>
        <p:spPr>
          <a:xfrm>
            <a:off x="685800" y="1152144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650"/>
              <a:buFont typeface="Noto Sans"/>
              <a:buNone/>
            </a:pPr>
            <a:r>
              <a:rPr b="1" i="0" lang="en-US" sz="16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Simple and Effective MDLM 的核心：把 absorbing-state discrete diffusion 簡化成 masked-token reconstruction。</a:t>
            </a:r>
            <a:endParaRPr b="0" i="0" sz="1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868680" y="2240280"/>
            <a:ext cx="1463040" cy="640080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x₀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clean tokens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2971800" y="2240280"/>
            <a:ext cx="1828800" cy="640080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q(xₜ | x₀)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masking process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5440680" y="2240280"/>
            <a:ext cx="1828800" cy="640080"/>
          </a:xfrm>
          <a:prstGeom prst="rect">
            <a:avLst/>
          </a:prstGeom>
          <a:solidFill>
            <a:srgbClr val="FCEFEF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xₜ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partially masked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7909560" y="2240280"/>
            <a:ext cx="1828800" cy="640080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xθ(xₜ,t)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predict x₀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10287000" y="2240280"/>
            <a:ext cx="1417320" cy="640080"/>
          </a:xfrm>
          <a:prstGeom prst="rect">
            <a:avLst/>
          </a:prstGeom>
          <a:solidFill>
            <a:srgbClr val="F0F3F5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MLM-style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weighted CE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84" name="Google Shape;184;p12"/>
          <p:cNvCxnSpPr/>
          <p:nvPr/>
        </p:nvCxnSpPr>
        <p:spPr>
          <a:xfrm>
            <a:off x="2423160" y="2560320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" name="Google Shape;185;p12"/>
          <p:cNvCxnSpPr/>
          <p:nvPr/>
        </p:nvCxnSpPr>
        <p:spPr>
          <a:xfrm>
            <a:off x="4892040" y="2560320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" name="Google Shape;186;p12"/>
          <p:cNvCxnSpPr/>
          <p:nvPr/>
        </p:nvCxnSpPr>
        <p:spPr>
          <a:xfrm>
            <a:off x="7360920" y="2560320"/>
            <a:ext cx="41148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" name="Google Shape;187;p12"/>
          <p:cNvCxnSpPr/>
          <p:nvPr/>
        </p:nvCxnSpPr>
        <p:spPr>
          <a:xfrm>
            <a:off x="9829800" y="2560320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8" name="Google Shape;188;p12"/>
          <p:cNvSpPr/>
          <p:nvPr/>
        </p:nvSpPr>
        <p:spPr>
          <a:xfrm>
            <a:off x="868680" y="3730752"/>
            <a:ext cx="5166360" cy="512064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1600"/>
              <a:buFont typeface="Cambria Math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6263640" y="3730752"/>
            <a:ext cx="5029200" cy="512064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1500"/>
              <a:buFont typeface="Cambria Math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s10_q.png" id="190" name="Google Shape;1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3794245"/>
            <a:ext cx="5129784" cy="3850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10_linf.png" id="191" name="Google Shape;19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1928" y="3769834"/>
            <a:ext cx="4992624" cy="43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/>
          <p:nvPr/>
        </p:nvSpPr>
        <p:spPr>
          <a:xfrm>
            <a:off x="411480" y="23774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Part2: Related works / MDLM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411480" y="530352"/>
            <a:ext cx="6583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SUBS (Substitution-Based) parameterization — two constraints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13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0150">
            <a:solidFill>
              <a:srgbClr val="23313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9" name="Google Shape;199;p13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3175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0" name="Google Shape;200;p13"/>
          <p:cNvSpPr/>
          <p:nvPr/>
        </p:nvSpPr>
        <p:spPr>
          <a:xfrm>
            <a:off x="0" y="6638544"/>
            <a:ext cx="12191675" cy="219456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685800" y="1097280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SUBS 把 absorbing-state diffusion 的結構直接放進模型輸出，讓 reverse unmasking 更穩定。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868680" y="1847088"/>
            <a:ext cx="4754880" cy="1325880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Zero masking probability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模型預測 x₀ 時不允許輸出 [MASK]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做法：把 [MASK] logit 設為極小值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5989320" y="1847088"/>
            <a:ext cx="4754880" cy="1325880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Carry-over unmasking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已經不是 [MASK] 的 token 直接保留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做法：未遮罩位置只允許複製原 token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914400" y="384048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D839E"/>
                </a:solidFill>
                <a:latin typeface="Noto Sans"/>
                <a:ea typeface="Noto Sans"/>
                <a:cs typeface="Noto Sans"/>
                <a:sym typeface="Noto Sans"/>
              </a:rPr>
              <a:t>效果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914400" y="4224528"/>
            <a:ext cx="9966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未遮罩 token 不需要再被重建，loss 實際集中在 [MASK] 位置。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可簡化 NELBO，使訓練目標變成 weighted MLM-style CE。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這也是 SDC 能用 token distribution alignment 的原因。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10835640" y="22860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11/42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 txBox="1"/>
          <p:nvPr/>
        </p:nvSpPr>
        <p:spPr>
          <a:xfrm>
            <a:off x="411480" y="23774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Part2: Related works / MDLM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4"/>
          <p:cNvSpPr txBox="1"/>
          <p:nvPr/>
        </p:nvSpPr>
        <p:spPr>
          <a:xfrm>
            <a:off x="411480" y="530352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Continuous-time objective — weighted CE 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14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0150">
            <a:solidFill>
              <a:srgbClr val="23313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4" name="Google Shape;214;p14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3175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5" name="Google Shape;215;p14"/>
          <p:cNvSpPr/>
          <p:nvPr/>
        </p:nvSpPr>
        <p:spPr>
          <a:xfrm>
            <a:off x="0" y="6638544"/>
            <a:ext cx="12191675" cy="219456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685800" y="1097280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b="1" i="0" lang="en-US" sz="16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MDLM 的連續時間目標可視為：對不同遮罩比例 t 抽樣，再用權重調整 masked-token reconstruction loss。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685800" y="1920240"/>
            <a:ext cx="2331720" cy="1097280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Sample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 ∼ U(0,1)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抽 diffusion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3383280" y="1920240"/>
            <a:ext cx="2331720" cy="1097280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Mask tokens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pₘₐₛₖ(t) = 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xₜ 由 x₀ 遮罩而來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6080760" y="1920240"/>
            <a:ext cx="2331720" cy="1097280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Predict x₀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xθ(xₜ,t)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只在有效 token 算 NLL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8778240" y="1920240"/>
            <a:ext cx="2331720" cy="1097280"/>
          </a:xfrm>
          <a:prstGeom prst="rect">
            <a:avLst/>
          </a:prstGeom>
          <a:solidFill>
            <a:srgbClr val="FCEFEF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Weighted 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−log pθ(x₀ | xₜ)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加上時間權重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14"/>
          <p:cNvCxnSpPr/>
          <p:nvPr/>
        </p:nvCxnSpPr>
        <p:spPr>
          <a:xfrm>
            <a:off x="3063240" y="2468880"/>
            <a:ext cx="274320" cy="0"/>
          </a:xfrm>
          <a:prstGeom prst="straightConnector1">
            <a:avLst/>
          </a:prstGeom>
          <a:noFill/>
          <a:ln cap="flat" cmpd="sng" w="152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22" name="Google Shape;222;p14"/>
          <p:cNvCxnSpPr/>
          <p:nvPr/>
        </p:nvCxnSpPr>
        <p:spPr>
          <a:xfrm>
            <a:off x="5760720" y="2468880"/>
            <a:ext cx="274320" cy="0"/>
          </a:xfrm>
          <a:prstGeom prst="straightConnector1">
            <a:avLst/>
          </a:prstGeom>
          <a:noFill/>
          <a:ln cap="flat" cmpd="sng" w="152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23" name="Google Shape;223;p14"/>
          <p:cNvCxnSpPr/>
          <p:nvPr/>
        </p:nvCxnSpPr>
        <p:spPr>
          <a:xfrm>
            <a:off x="8458200" y="2468880"/>
            <a:ext cx="274320" cy="0"/>
          </a:xfrm>
          <a:prstGeom prst="straightConnector1">
            <a:avLst/>
          </a:prstGeom>
          <a:noFill/>
          <a:ln cap="flat" cmpd="sng" w="152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4" name="Google Shape;224;p14"/>
          <p:cNvSpPr txBox="1"/>
          <p:nvPr/>
        </p:nvSpPr>
        <p:spPr>
          <a:xfrm>
            <a:off x="868680" y="4160520"/>
            <a:ext cx="10058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t 越大代表遮罩越多，任務越困難。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模型學的是「在部分文字可見時，補回被 mask 的原始 token」。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80"/>
              <a:buFont typeface="Arial"/>
              <a:buNone/>
            </a:pPr>
            <a:r>
              <a:rPr b="0" i="0" lang="en-US" sz="14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SDC 額外要求不同 t 的 token 分佈不要互相漂移。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10835640" y="22860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12/42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Part2: Related works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MDLM 預測 masking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13/42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15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15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15"/>
          <p:cNvSpPr/>
          <p:nvPr/>
        </p:nvSpPr>
        <p:spPr>
          <a:xfrm>
            <a:off x="685800" y="1152144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629"/>
              <a:buFont typeface="Noto Sans"/>
              <a:buNone/>
            </a:pPr>
            <a:r>
              <a:rPr b="1" i="0" lang="en-US" sz="163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在實作設定中，diffusion time t 對應每個 token 被 mask 的機率；用 t 做蒙地卡羅抽樣。</a:t>
            </a:r>
            <a:endParaRPr b="0" i="0" sz="16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868680" y="1828800"/>
            <a:ext cx="2286000" cy="54864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2400"/>
              <a:buFont typeface="Cambria Math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3520440" y="1828800"/>
            <a:ext cx="2926080" cy="54864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1700"/>
              <a:buFont typeface="Cambria Math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6812280" y="1828800"/>
            <a:ext cx="4480560" cy="54864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1550"/>
              <a:buFont typeface="Cambria Math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41" name="Google Shape;241;p15"/>
          <p:cNvCxnSpPr/>
          <p:nvPr/>
        </p:nvCxnSpPr>
        <p:spPr>
          <a:xfrm>
            <a:off x="3246120" y="2103120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2" name="Google Shape;242;p15"/>
          <p:cNvCxnSpPr/>
          <p:nvPr/>
        </p:nvCxnSpPr>
        <p:spPr>
          <a:xfrm>
            <a:off x="6537960" y="2103120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" name="Google Shape;243;p15"/>
          <p:cNvSpPr/>
          <p:nvPr/>
        </p:nvSpPr>
        <p:spPr>
          <a:xfrm>
            <a:off x="868680" y="3154680"/>
            <a:ext cx="914400" cy="29260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Example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960120" y="3611880"/>
            <a:ext cx="141732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A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960120" y="4617720"/>
            <a:ext cx="141732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20"/>
              <a:buFont typeface="Noto Sans"/>
              <a:buNone/>
            </a:pPr>
            <a:r>
              <a:rPr b="1" i="0" lang="en-US" sz="12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A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46" name="Google Shape;246;p15"/>
          <p:cNvCxnSpPr/>
          <p:nvPr/>
        </p:nvCxnSpPr>
        <p:spPr>
          <a:xfrm>
            <a:off x="1673352" y="4096512"/>
            <a:ext cx="0" cy="457200"/>
          </a:xfrm>
          <a:prstGeom prst="straightConnector1">
            <a:avLst/>
          </a:prstGeom>
          <a:noFill/>
          <a:ln cap="flat" cmpd="sng" w="13950">
            <a:solidFill>
              <a:srgbClr val="5D83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7" name="Google Shape;247;p15"/>
          <p:cNvSpPr/>
          <p:nvPr/>
        </p:nvSpPr>
        <p:spPr>
          <a:xfrm>
            <a:off x="3017520" y="3611880"/>
            <a:ext cx="141732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small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3017520" y="4617720"/>
            <a:ext cx="1417320" cy="411480"/>
          </a:xfrm>
          <a:prstGeom prst="rect">
            <a:avLst/>
          </a:prstGeom>
          <a:solidFill>
            <a:srgbClr val="FCEFE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20"/>
              <a:buFont typeface="Noto Sans"/>
              <a:buNone/>
            </a:pPr>
            <a:r>
              <a:rPr b="1" i="0" lang="en-US" sz="12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[MASK]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49" name="Google Shape;249;p15"/>
          <p:cNvCxnSpPr/>
          <p:nvPr/>
        </p:nvCxnSpPr>
        <p:spPr>
          <a:xfrm>
            <a:off x="3730752" y="4096512"/>
            <a:ext cx="0" cy="457200"/>
          </a:xfrm>
          <a:prstGeom prst="straightConnector1">
            <a:avLst/>
          </a:prstGeom>
          <a:noFill/>
          <a:ln cap="flat" cmpd="sng" w="13950">
            <a:solidFill>
              <a:srgbClr val="5D83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0" name="Google Shape;250;p15"/>
          <p:cNvSpPr/>
          <p:nvPr/>
        </p:nvSpPr>
        <p:spPr>
          <a:xfrm>
            <a:off x="5074920" y="3611880"/>
            <a:ext cx="141732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masked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5074920" y="4617720"/>
            <a:ext cx="141732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20"/>
              <a:buFont typeface="Noto Sans"/>
              <a:buNone/>
            </a:pPr>
            <a:r>
              <a:rPr b="1" i="0" lang="en-US" sz="12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masked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52" name="Google Shape;252;p15"/>
          <p:cNvCxnSpPr/>
          <p:nvPr/>
        </p:nvCxnSpPr>
        <p:spPr>
          <a:xfrm>
            <a:off x="5788152" y="4096512"/>
            <a:ext cx="0" cy="457200"/>
          </a:xfrm>
          <a:prstGeom prst="straightConnector1">
            <a:avLst/>
          </a:prstGeom>
          <a:noFill/>
          <a:ln cap="flat" cmpd="sng" w="13950">
            <a:solidFill>
              <a:srgbClr val="5D83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3" name="Google Shape;253;p15"/>
          <p:cNvSpPr/>
          <p:nvPr/>
        </p:nvSpPr>
        <p:spPr>
          <a:xfrm>
            <a:off x="7132320" y="3611880"/>
            <a:ext cx="141732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language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7132320" y="4617720"/>
            <a:ext cx="1417320" cy="411480"/>
          </a:xfrm>
          <a:prstGeom prst="rect">
            <a:avLst/>
          </a:prstGeom>
          <a:solidFill>
            <a:srgbClr val="FCEFE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20"/>
              <a:buFont typeface="Noto Sans"/>
              <a:buNone/>
            </a:pPr>
            <a:r>
              <a:rPr b="1" i="0" lang="en-US" sz="12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[MASK]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55" name="Google Shape;255;p15"/>
          <p:cNvCxnSpPr/>
          <p:nvPr/>
        </p:nvCxnSpPr>
        <p:spPr>
          <a:xfrm>
            <a:off x="7845552" y="4096512"/>
            <a:ext cx="0" cy="457200"/>
          </a:xfrm>
          <a:prstGeom prst="straightConnector1">
            <a:avLst/>
          </a:prstGeom>
          <a:noFill/>
          <a:ln cap="flat" cmpd="sng" w="13950">
            <a:solidFill>
              <a:srgbClr val="5D83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6" name="Google Shape;256;p15"/>
          <p:cNvSpPr/>
          <p:nvPr/>
        </p:nvSpPr>
        <p:spPr>
          <a:xfrm>
            <a:off x="9189720" y="3611880"/>
            <a:ext cx="141732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model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9189720" y="4617720"/>
            <a:ext cx="141732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20"/>
              <a:buFont typeface="Noto Sans"/>
              <a:buNone/>
            </a:pPr>
            <a:r>
              <a:rPr b="1" i="0" lang="en-US" sz="12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model</a:t>
            </a:r>
            <a:endParaRPr b="0" i="0" sz="12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58" name="Google Shape;258;p15"/>
          <p:cNvCxnSpPr/>
          <p:nvPr/>
        </p:nvCxnSpPr>
        <p:spPr>
          <a:xfrm>
            <a:off x="9902952" y="4096512"/>
            <a:ext cx="0" cy="457200"/>
          </a:xfrm>
          <a:prstGeom prst="straightConnector1">
            <a:avLst/>
          </a:prstGeom>
          <a:noFill/>
          <a:ln cap="flat" cmpd="sng" w="13950">
            <a:solidFill>
              <a:srgbClr val="5D83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" name="Google Shape;259;p15"/>
          <p:cNvSpPr/>
          <p:nvPr/>
        </p:nvSpPr>
        <p:spPr>
          <a:xfrm>
            <a:off x="594360" y="363931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3F6179"/>
                </a:solidFill>
                <a:latin typeface="Noto Sans"/>
                <a:ea typeface="Noto Sans"/>
                <a:cs typeface="Noto Sans"/>
                <a:sym typeface="Noto Sans"/>
              </a:rPr>
              <a:t>x₀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594360" y="464515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3F6179"/>
                </a:solidFill>
                <a:latin typeface="Noto Sans"/>
                <a:ea typeface="Noto Sans"/>
                <a:cs typeface="Noto Sans"/>
                <a:sym typeface="Noto Sans"/>
              </a:rPr>
              <a:t>xₜ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s11_pmask.png" id="261" name="Google Shape;26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0279" y="1856232"/>
            <a:ext cx="2142801" cy="493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11_bern.png" id="262" name="Google Shape;26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8728" y="1940428"/>
            <a:ext cx="2889504" cy="3253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11_xt.png" id="263" name="Google Shape;26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0568" y="1927287"/>
            <a:ext cx="4443984" cy="351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"/>
          <p:cNvSpPr txBox="1"/>
          <p:nvPr/>
        </p:nvSpPr>
        <p:spPr>
          <a:xfrm>
            <a:off x="411480" y="23774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Part2: Related works / MDLM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411480" y="530352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MDLM 文字生成流程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16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0150">
            <a:solidFill>
              <a:srgbClr val="23313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71" name="Google Shape;271;p16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3175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2" name="Google Shape;272;p16"/>
          <p:cNvSpPr/>
          <p:nvPr/>
        </p:nvSpPr>
        <p:spPr>
          <a:xfrm>
            <a:off x="0" y="6638544"/>
            <a:ext cx="12191675" cy="219456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685800" y="1097280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生成時模型不是由左到右輸出，而是先給一串遮罩，再反覆補回文字。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685800" y="1847088"/>
            <a:ext cx="2286000" cy="1143000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  起始狀態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全部位置都是 [MASK]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固定序列長度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3200400" y="1847088"/>
            <a:ext cx="2286000" cy="1143000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2  逐步還原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生成步數越多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文字通常越穩定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5715000" y="1847088"/>
            <a:ext cx="2286000" cy="1143000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3  選擇候選 token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依模型預測分佈抽樣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保留生成多樣性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8229600" y="1847088"/>
            <a:ext cx="2743200" cy="1143000"/>
          </a:xfrm>
          <a:prstGeom prst="rect">
            <a:avLst/>
          </a:prstGeom>
          <a:solidFill>
            <a:srgbClr val="FCEFEF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4  最終輸出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移除剩餘遮罩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得到完整文字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p16"/>
          <p:cNvCxnSpPr/>
          <p:nvPr/>
        </p:nvCxnSpPr>
        <p:spPr>
          <a:xfrm>
            <a:off x="2999232" y="2423160"/>
            <a:ext cx="155448" cy="0"/>
          </a:xfrm>
          <a:prstGeom prst="straightConnector1">
            <a:avLst/>
          </a:prstGeom>
          <a:noFill/>
          <a:ln cap="flat" cmpd="sng" w="152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79" name="Google Shape;279;p16"/>
          <p:cNvCxnSpPr/>
          <p:nvPr/>
        </p:nvCxnSpPr>
        <p:spPr>
          <a:xfrm>
            <a:off x="5513832" y="2423160"/>
            <a:ext cx="155448" cy="0"/>
          </a:xfrm>
          <a:prstGeom prst="straightConnector1">
            <a:avLst/>
          </a:prstGeom>
          <a:noFill/>
          <a:ln cap="flat" cmpd="sng" w="152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80" name="Google Shape;280;p16"/>
          <p:cNvCxnSpPr/>
          <p:nvPr/>
        </p:nvCxnSpPr>
        <p:spPr>
          <a:xfrm>
            <a:off x="8028431" y="2423160"/>
            <a:ext cx="155448" cy="0"/>
          </a:xfrm>
          <a:prstGeom prst="straightConnector1">
            <a:avLst/>
          </a:prstGeom>
          <a:noFill/>
          <a:ln cap="flat" cmpd="sng" w="152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1" name="Google Shape;281;p16"/>
          <p:cNvSpPr/>
          <p:nvPr/>
        </p:nvSpPr>
        <p:spPr>
          <a:xfrm>
            <a:off x="960120" y="3730752"/>
            <a:ext cx="2423160" cy="329184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固定生成流程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3840480" y="3730752"/>
            <a:ext cx="2423160" cy="329184"/>
          </a:xfrm>
          <a:prstGeom prst="rect">
            <a:avLst/>
          </a:prstGeom>
          <a:solidFill>
            <a:srgbClr val="F0F3F5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沒有額外調溫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6720840" y="3730752"/>
            <a:ext cx="2468880" cy="329184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外部模型評估生成品質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6"/>
          <p:cNvSpPr txBox="1"/>
          <p:nvPr/>
        </p:nvSpPr>
        <p:spPr>
          <a:xfrm>
            <a:off x="868680" y="4480560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SDC 不改變生成流程，也不改模型架構。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因此實驗差異主要來自新增的跨遮罩層級一致性訓練。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6"/>
          <p:cNvSpPr txBox="1"/>
          <p:nvPr/>
        </p:nvSpPr>
        <p:spPr>
          <a:xfrm>
            <a:off x="10835640" y="22860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14/42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"/>
          <p:cNvSpPr/>
          <p:nvPr/>
        </p:nvSpPr>
        <p:spPr>
          <a:xfrm>
            <a:off x="5367528" y="384048"/>
            <a:ext cx="146304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839E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5D839E"/>
                </a:solidFill>
                <a:latin typeface="Noto Sans"/>
                <a:ea typeface="Noto Sans"/>
                <a:cs typeface="Noto Sans"/>
                <a:sym typeface="Noto Sans"/>
              </a:rPr>
              <a:t>SDC</a:t>
            </a:r>
            <a:endParaRPr b="0" i="0" sz="2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0" y="1901952"/>
            <a:ext cx="12191695" cy="1280160"/>
          </a:xfrm>
          <a:prstGeom prst="rect">
            <a:avLst/>
          </a:prstGeom>
          <a:solidFill>
            <a:srgbClr val="5D83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Noto San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Proposed method</a:t>
            </a:r>
            <a:endParaRPr b="0" i="0" sz="3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293" name="Google Shape;293;p17"/>
          <p:cNvCxnSpPr/>
          <p:nvPr/>
        </p:nvCxnSpPr>
        <p:spPr>
          <a:xfrm>
            <a:off x="5779008" y="3794760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17"/>
          <p:cNvSpPr/>
          <p:nvPr/>
        </p:nvSpPr>
        <p:spPr>
          <a:xfrm>
            <a:off x="5248656" y="4069080"/>
            <a:ext cx="1691640" cy="402336"/>
          </a:xfrm>
          <a:prstGeom prst="rect">
            <a:avLst/>
          </a:prstGeom>
          <a:solidFill>
            <a:srgbClr val="5D839E">
              <a:alpha val="9019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THREE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Part3: Proposed method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Method overview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16/42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18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18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18"/>
          <p:cNvSpPr/>
          <p:nvPr/>
        </p:nvSpPr>
        <p:spPr>
          <a:xfrm>
            <a:off x="685800" y="1152144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620"/>
              <a:buFont typeface="Noto Sans"/>
              <a:buNone/>
            </a:pPr>
            <a:r>
              <a:rPr b="1" i="0" lang="en-US" sz="16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Selective Distributional Consistency：用低雜訊 teacher 指導高雜訊 student，但只蒸餾可信且對齊的位置。</a:t>
            </a:r>
            <a:endParaRPr b="0" i="0" sz="16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731520" y="2743200"/>
            <a:ext cx="146304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Clean sequence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x₀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2743200" y="1828800"/>
            <a:ext cx="1645920" cy="685800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Low noise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xₛ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2743200" y="3657600"/>
            <a:ext cx="1645920" cy="685800"/>
          </a:xfrm>
          <a:prstGeom prst="rect">
            <a:avLst/>
          </a:prstGeom>
          <a:solidFill>
            <a:srgbClr val="FCEFEF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High noise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xₜ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4937760" y="1828800"/>
            <a:ext cx="2011680" cy="685800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 Teacher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qₛ(· ∣ xₛ)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4937760" y="3657600"/>
            <a:ext cx="2011680" cy="685800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pₜ(· ∣ xₜ)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7680940" y="1828805"/>
            <a:ext cx="1828800" cy="685800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Confidence filter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cₛ ≥ τ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9921240" y="2697480"/>
            <a:ext cx="1645920" cy="685800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Selected KL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Dₖₗ(qₛ ∥ pₜ)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15" name="Google Shape;315;p18"/>
          <p:cNvCxnSpPr/>
          <p:nvPr/>
        </p:nvCxnSpPr>
        <p:spPr>
          <a:xfrm flipH="1" rot="10800000">
            <a:off x="2286000" y="2176272"/>
            <a:ext cx="365760" cy="795528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6" name="Google Shape;316;p18"/>
          <p:cNvCxnSpPr/>
          <p:nvPr/>
        </p:nvCxnSpPr>
        <p:spPr>
          <a:xfrm>
            <a:off x="2286000" y="2971800"/>
            <a:ext cx="365760" cy="1033272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7" name="Google Shape;317;p18"/>
          <p:cNvCxnSpPr/>
          <p:nvPr/>
        </p:nvCxnSpPr>
        <p:spPr>
          <a:xfrm>
            <a:off x="4480560" y="2176272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8" name="Google Shape;318;p18"/>
          <p:cNvCxnSpPr/>
          <p:nvPr/>
        </p:nvCxnSpPr>
        <p:spPr>
          <a:xfrm>
            <a:off x="4480560" y="4005072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" name="Google Shape;319;p18"/>
          <p:cNvCxnSpPr>
            <a:endCxn id="313" idx="1"/>
          </p:cNvCxnSpPr>
          <p:nvPr/>
        </p:nvCxnSpPr>
        <p:spPr>
          <a:xfrm flipH="1" rot="10800000">
            <a:off x="7132240" y="2171705"/>
            <a:ext cx="548700" cy="450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" name="Google Shape;320;p18"/>
          <p:cNvCxnSpPr>
            <a:endCxn id="314" idx="1"/>
          </p:cNvCxnSpPr>
          <p:nvPr/>
        </p:nvCxnSpPr>
        <p:spPr>
          <a:xfrm flipH="1" rot="10800000">
            <a:off x="7132440" y="3040380"/>
            <a:ext cx="2788800" cy="96480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1" name="Google Shape;321;p18"/>
          <p:cNvCxnSpPr>
            <a:stCxn id="313" idx="3"/>
            <a:endCxn id="314" idx="1"/>
          </p:cNvCxnSpPr>
          <p:nvPr/>
        </p:nvCxnSpPr>
        <p:spPr>
          <a:xfrm>
            <a:off x="9509740" y="2171705"/>
            <a:ext cx="411600" cy="86880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2" name="Google Shape;322;p18"/>
          <p:cNvSpPr/>
          <p:nvPr/>
        </p:nvSpPr>
        <p:spPr>
          <a:xfrm>
            <a:off x="868680" y="5230368"/>
            <a:ext cx="10515600" cy="54864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600"/>
              <a:buFont typeface="Noto Sans"/>
              <a:buNone/>
            </a:pPr>
            <a:r>
              <a:rPr b="0" i="0" lang="en-US" sz="16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核心：teacher 看到更多 context，student 在更困難的遮罩情境下學到穩定分佈。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Part3: Proposed method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Design 1 — nested masking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17/42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19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19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19"/>
          <p:cNvSpPr/>
          <p:nvPr/>
        </p:nvSpPr>
        <p:spPr>
          <a:xfrm>
            <a:off x="685800" y="1152144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629"/>
              <a:buFont typeface="Noto Sans"/>
              <a:buNone/>
            </a:pPr>
            <a:r>
              <a:rPr b="1" i="0" lang="en-US" sz="163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設定兩個巢狀雜訊層級 s &lt; t；實作中 s = ρt，其中 0 &lt; ρ &lt; 1。</a:t>
            </a:r>
            <a:endParaRPr b="0" i="0" sz="16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594360" y="1901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3F6179"/>
                </a:solidFill>
                <a:latin typeface="Noto Sans"/>
                <a:ea typeface="Noto Sans"/>
                <a:cs typeface="Noto Sans"/>
                <a:sym typeface="Noto Sans"/>
              </a:rPr>
              <a:t>x₀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1188720" y="1828800"/>
            <a:ext cx="118872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The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2880360" y="1828800"/>
            <a:ext cx="118872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model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4572000" y="1828800"/>
            <a:ext cx="118872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learns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6263640" y="1828800"/>
            <a:ext cx="118872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from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7955280" y="1828800"/>
            <a:ext cx="118872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text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9646920" y="1828800"/>
            <a:ext cx="118872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data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594360" y="3044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3F6179"/>
                </a:solidFill>
                <a:latin typeface="Noto Sans"/>
                <a:ea typeface="Noto Sans"/>
                <a:cs typeface="Noto Sans"/>
                <a:sym typeface="Noto Sans"/>
              </a:rPr>
              <a:t>xₛ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1188720" y="2971800"/>
            <a:ext cx="118872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The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2880360" y="2971800"/>
            <a:ext cx="1188720" cy="438912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[M]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5" name="Google Shape;345;p19"/>
          <p:cNvSpPr/>
          <p:nvPr/>
        </p:nvSpPr>
        <p:spPr>
          <a:xfrm>
            <a:off x="4572000" y="2971800"/>
            <a:ext cx="118872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learns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6" name="Google Shape;346;p19"/>
          <p:cNvSpPr/>
          <p:nvPr/>
        </p:nvSpPr>
        <p:spPr>
          <a:xfrm>
            <a:off x="6263640" y="2971800"/>
            <a:ext cx="118872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from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7955280" y="2971800"/>
            <a:ext cx="1188720" cy="438912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[M]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8" name="Google Shape;348;p19"/>
          <p:cNvSpPr/>
          <p:nvPr/>
        </p:nvSpPr>
        <p:spPr>
          <a:xfrm>
            <a:off x="9646920" y="2971800"/>
            <a:ext cx="118872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data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9" name="Google Shape;349;p19"/>
          <p:cNvSpPr/>
          <p:nvPr/>
        </p:nvSpPr>
        <p:spPr>
          <a:xfrm>
            <a:off x="594360" y="4187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3F6179"/>
                </a:solidFill>
                <a:latin typeface="Noto Sans"/>
                <a:ea typeface="Noto Sans"/>
                <a:cs typeface="Noto Sans"/>
                <a:sym typeface="Noto Sans"/>
              </a:rPr>
              <a:t>xₜ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0" name="Google Shape;350;p19"/>
          <p:cNvSpPr/>
          <p:nvPr/>
        </p:nvSpPr>
        <p:spPr>
          <a:xfrm>
            <a:off x="1188720" y="4114800"/>
            <a:ext cx="1188720" cy="438912"/>
          </a:xfrm>
          <a:prstGeom prst="rect">
            <a:avLst/>
          </a:prstGeom>
          <a:solidFill>
            <a:srgbClr val="FCEFE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[M]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1" name="Google Shape;351;p19"/>
          <p:cNvSpPr/>
          <p:nvPr/>
        </p:nvSpPr>
        <p:spPr>
          <a:xfrm>
            <a:off x="2880360" y="4114800"/>
            <a:ext cx="1188720" cy="438912"/>
          </a:xfrm>
          <a:prstGeom prst="rect">
            <a:avLst/>
          </a:prstGeom>
          <a:solidFill>
            <a:srgbClr val="FCEFE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[M]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4572000" y="4114800"/>
            <a:ext cx="118872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learns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3" name="Google Shape;353;p19"/>
          <p:cNvSpPr/>
          <p:nvPr/>
        </p:nvSpPr>
        <p:spPr>
          <a:xfrm>
            <a:off x="6263640" y="4114800"/>
            <a:ext cx="1188720" cy="438912"/>
          </a:xfrm>
          <a:prstGeom prst="rect">
            <a:avLst/>
          </a:prstGeom>
          <a:solidFill>
            <a:srgbClr val="FCEFE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[M]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7955280" y="4114800"/>
            <a:ext cx="1188720" cy="438912"/>
          </a:xfrm>
          <a:prstGeom prst="rect">
            <a:avLst/>
          </a:prstGeom>
          <a:solidFill>
            <a:srgbClr val="FCEFE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[M]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9646920" y="4114800"/>
            <a:ext cx="118872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data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6" name="Google Shape;356;p19"/>
          <p:cNvSpPr/>
          <p:nvPr/>
        </p:nvSpPr>
        <p:spPr>
          <a:xfrm>
            <a:off x="1188720" y="5166360"/>
            <a:ext cx="2926080" cy="54864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1900"/>
              <a:buFont typeface="Cambria Math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4572000" y="5166360"/>
            <a:ext cx="5852160" cy="54864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1550"/>
              <a:buFont typeface="Cambria Math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868680" y="580644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30"/>
              <a:buFont typeface="Noto Sans"/>
              <a:buNone/>
            </a:pPr>
            <a:r>
              <a:rPr b="0" i="0" lang="en-US" sz="123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先抽低遮罩 xₛ，再補額外 mask 得到 xₜ。</a:t>
            </a:r>
            <a:endParaRPr b="0" i="0" sz="12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30"/>
              <a:buFont typeface="Noto Sans"/>
              <a:buNone/>
            </a:pPr>
            <a:r>
              <a:rPr b="0" i="0" lang="en-US" sz="123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共同 masked 的位置對應同一個 prediction target。</a:t>
            </a:r>
            <a:endParaRPr b="0" i="0" sz="12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s14_subset.png" id="359" name="Google Shape;3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008" y="5259940"/>
            <a:ext cx="2889504" cy="3614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14_I.png" id="360" name="Google Shape;3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0288" y="5230752"/>
            <a:ext cx="5815584" cy="419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0"/>
          <p:cNvSpPr txBox="1"/>
          <p:nvPr/>
        </p:nvSpPr>
        <p:spPr>
          <a:xfrm>
            <a:off x="411480" y="23774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Part3: Proposed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0"/>
          <p:cNvSpPr txBox="1"/>
          <p:nvPr/>
        </p:nvSpPr>
        <p:spPr>
          <a:xfrm>
            <a:off x="411480" y="530352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Nested masking — concept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" name="Google Shape;367;p20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0150">
            <a:solidFill>
              <a:srgbClr val="23313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68" name="Google Shape;368;p20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3175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69" name="Google Shape;369;p20"/>
          <p:cNvSpPr/>
          <p:nvPr/>
        </p:nvSpPr>
        <p:spPr>
          <a:xfrm>
            <a:off x="0" y="6638544"/>
            <a:ext cx="12191675" cy="219456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0"/>
          <p:cNvSpPr txBox="1"/>
          <p:nvPr/>
        </p:nvSpPr>
        <p:spPr>
          <a:xfrm>
            <a:off x="685800" y="1097280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先建立低遮罩版本，再增加額外遮罩形成高遮罩版本，讓兩者有共同可比較的位置。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685800" y="1847088"/>
            <a:ext cx="2011680" cy="1051560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Step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決定兩個遮罩比例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低遮罩 s，高遮罩 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3063240" y="1847088"/>
            <a:ext cx="2514600" cy="1051560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Step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先產生低遮罩句子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保留較多上下文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5943600" y="1847088"/>
            <a:ext cx="2788920" cy="1051560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Step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再增加遮罩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形成較困難的高遮罩句子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9098280" y="1847088"/>
            <a:ext cx="2286000" cy="1051560"/>
          </a:xfrm>
          <a:prstGeom prst="rect">
            <a:avLst/>
          </a:prstGeom>
          <a:solidFill>
            <a:srgbClr val="F0F3F5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共同遮罩位置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對應同一個答案 token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5" name="Google Shape;375;p20"/>
          <p:cNvCxnSpPr/>
          <p:nvPr/>
        </p:nvCxnSpPr>
        <p:spPr>
          <a:xfrm>
            <a:off x="2724912" y="2377440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76" name="Google Shape;376;p20"/>
          <p:cNvCxnSpPr/>
          <p:nvPr/>
        </p:nvCxnSpPr>
        <p:spPr>
          <a:xfrm>
            <a:off x="5605272" y="2377440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77" name="Google Shape;377;p20"/>
          <p:cNvCxnSpPr/>
          <p:nvPr/>
        </p:nvCxnSpPr>
        <p:spPr>
          <a:xfrm>
            <a:off x="8759952" y="2377440"/>
            <a:ext cx="292608" cy="0"/>
          </a:xfrm>
          <a:prstGeom prst="straightConnector1">
            <a:avLst/>
          </a:prstGeom>
          <a:noFill/>
          <a:ln cap="flat" cmpd="sng" w="152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8" name="Google Shape;378;p20"/>
          <p:cNvSpPr txBox="1"/>
          <p:nvPr/>
        </p:nvSpPr>
        <p:spPr>
          <a:xfrm>
            <a:off x="914400" y="36850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D839E"/>
                </a:solidFill>
                <a:latin typeface="Noto Sans"/>
                <a:ea typeface="Noto Sans"/>
                <a:cs typeface="Noto Sans"/>
                <a:sym typeface="Noto Sans"/>
              </a:rPr>
              <a:t>可比較的位置集合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0"/>
          <p:cNvSpPr txBox="1"/>
          <p:nvPr/>
        </p:nvSpPr>
        <p:spPr>
          <a:xfrm>
            <a:off x="914400" y="4078224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共同被遮罩，且不是 padding 的 token 位置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0"/>
          <p:cNvSpPr txBox="1"/>
          <p:nvPr/>
        </p:nvSpPr>
        <p:spPr>
          <a:xfrm>
            <a:off x="914400" y="4690872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只有同一個答案位置才進行分佈對齊。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padding 不納入計算，避免無效位置干擾結果。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0"/>
          <p:cNvSpPr txBox="1"/>
          <p:nvPr/>
        </p:nvSpPr>
        <p:spPr>
          <a:xfrm>
            <a:off x="10835640" y="22860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18/42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Part3: Proposed method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Design 2 — confidence selection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0" name="Google Shape;390;p21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19/42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1" name="Google Shape;391;p21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" name="Google Shape;392;p21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" name="Google Shape;393;p21"/>
          <p:cNvSpPr/>
          <p:nvPr/>
        </p:nvSpPr>
        <p:spPr>
          <a:xfrm>
            <a:off x="685800" y="1152144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629"/>
              <a:buFont typeface="Noto Sans"/>
              <a:buNone/>
            </a:pPr>
            <a:r>
              <a:rPr b="1" i="0" lang="en-US" sz="163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為了避免不確定 teacher 造成錯誤蒸餾，SDC 只保留高 confidence 的 teacher token。</a:t>
            </a:r>
            <a:endParaRPr b="0" i="0" sz="16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822960" y="1965960"/>
            <a:ext cx="3566160" cy="54864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1800"/>
              <a:buFont typeface="Cambria Math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4663440" y="1965960"/>
            <a:ext cx="4754880" cy="54864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1700"/>
              <a:buFont typeface="Cambria Math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1005840" y="3337560"/>
            <a:ext cx="2468880" cy="731520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Teacher prediction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低遮罩下的預測分佈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4709160" y="3337560"/>
            <a:ext cx="2468880" cy="731520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最大機率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作為信心分數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8412480" y="3337560"/>
            <a:ext cx="2468880" cy="731520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保留 token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信心分數達到門檻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" name="Google Shape;399;p21"/>
          <p:cNvCxnSpPr/>
          <p:nvPr/>
        </p:nvCxnSpPr>
        <p:spPr>
          <a:xfrm>
            <a:off x="3611880" y="3703320"/>
            <a:ext cx="96012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0" name="Google Shape;400;p21"/>
          <p:cNvCxnSpPr/>
          <p:nvPr/>
        </p:nvCxnSpPr>
        <p:spPr>
          <a:xfrm>
            <a:off x="7315200" y="3703320"/>
            <a:ext cx="96012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1" name="Google Shape;401;p21"/>
          <p:cNvSpPr/>
          <p:nvPr/>
        </p:nvSpPr>
        <p:spPr>
          <a:xfrm>
            <a:off x="914400" y="4892040"/>
            <a:ext cx="10058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450"/>
              <a:buFont typeface="Noto Sans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信心門檻控制 teacher 訊號是否可靠。</a:t>
            </a:r>
            <a:endParaRPr b="0" i="0" sz="14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若沒有可靠位置，就不加入 SDC 輔助 loss。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15_conf.png" id="402" name="Google Shape;4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9702" y="1993392"/>
            <a:ext cx="2492676" cy="493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15_set_fixed.png" id="403" name="Google Shape;4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3822" y="1993392"/>
            <a:ext cx="4634116" cy="49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2"/>
          <p:cNvSpPr txBox="1"/>
          <p:nvPr/>
        </p:nvSpPr>
        <p:spPr>
          <a:xfrm>
            <a:off x="411480" y="23774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Part3: Proposed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411480" y="530352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Teacher guidance and confidence filter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" name="Google Shape;410;p22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0150">
            <a:solidFill>
              <a:srgbClr val="23313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11" name="Google Shape;411;p22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3175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2" name="Google Shape;412;p22"/>
          <p:cNvSpPr/>
          <p:nvPr/>
        </p:nvSpPr>
        <p:spPr>
          <a:xfrm>
            <a:off x="0" y="6638544"/>
            <a:ext cx="12191675" cy="219456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685800" y="1097280"/>
            <a:ext cx="10241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teacher 在低遮罩句子上做預測，通常看見更多上下文，因此能提供較穩定的參考。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914400" y="1856231"/>
            <a:ext cx="2926080" cy="1234440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Teacher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由模型的平滑版本提供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只作為參考訊號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4434840" y="1856231"/>
            <a:ext cx="2926080" cy="1234440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Low-noise 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xₛ 遮罩較少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teacher 看見更多上下文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7955279" y="1856231"/>
            <a:ext cx="3154680" cy="1234440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Confidence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取最高預測機率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只保留高信心位置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7" name="Google Shape;417;p22"/>
          <p:cNvCxnSpPr/>
          <p:nvPr/>
        </p:nvCxnSpPr>
        <p:spPr>
          <a:xfrm>
            <a:off x="3886200" y="2468880"/>
            <a:ext cx="502920" cy="0"/>
          </a:xfrm>
          <a:prstGeom prst="straightConnector1">
            <a:avLst/>
          </a:prstGeom>
          <a:noFill/>
          <a:ln cap="flat" cmpd="sng" w="152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18" name="Google Shape;418;p22"/>
          <p:cNvCxnSpPr/>
          <p:nvPr/>
        </p:nvCxnSpPr>
        <p:spPr>
          <a:xfrm>
            <a:off x="7406640" y="2468880"/>
            <a:ext cx="502920" cy="0"/>
          </a:xfrm>
          <a:prstGeom prst="straightConnector1">
            <a:avLst/>
          </a:prstGeom>
          <a:noFill/>
          <a:ln cap="flat" cmpd="sng" w="152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9" name="Google Shape;419;p22"/>
          <p:cNvSpPr txBox="1"/>
          <p:nvPr/>
        </p:nvSpPr>
        <p:spPr>
          <a:xfrm>
            <a:off x="914400" y="3840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D839E"/>
                </a:solidFill>
                <a:latin typeface="Noto Sans"/>
                <a:ea typeface="Noto Sans"/>
                <a:cs typeface="Noto Sans"/>
                <a:sym typeface="Noto Sans"/>
              </a:rPr>
              <a:t>為什麼要 confidence？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2"/>
          <p:cNvSpPr txBox="1"/>
          <p:nvPr/>
        </p:nvSpPr>
        <p:spPr>
          <a:xfrm>
            <a:off x="914400" y="4206240"/>
            <a:ext cx="10058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低遮罩 teacher 通常較可靠，但仍可能不確定。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若預測很分散，強迫對齊反而會加入雜訊。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信心門檻用來平衡「可用 token 數量」與「訊號可靠度」。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2"/>
          <p:cNvSpPr txBox="1"/>
          <p:nvPr/>
        </p:nvSpPr>
        <p:spPr>
          <a:xfrm>
            <a:off x="10835640" y="22860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20/42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3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Part3: Proposed method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9" name="Google Shape;429;p23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Selective KL divergence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0" name="Google Shape;430;p23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21/42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1" name="Google Shape;431;p23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" name="Google Shape;432;p23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p23"/>
          <p:cNvSpPr/>
          <p:nvPr/>
        </p:nvSpPr>
        <p:spPr>
          <a:xfrm>
            <a:off x="777240" y="1325880"/>
            <a:ext cx="10652760" cy="96012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1800"/>
              <a:buFont typeface="Cambria Math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4" name="Google Shape;434;p23"/>
          <p:cNvSpPr/>
          <p:nvPr/>
        </p:nvSpPr>
        <p:spPr>
          <a:xfrm>
            <a:off x="914400" y="2743200"/>
            <a:ext cx="2560320" cy="822960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qₛ：EMA teacher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low-noise distribution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5" name="Google Shape;435;p23"/>
          <p:cNvSpPr/>
          <p:nvPr/>
        </p:nvSpPr>
        <p:spPr>
          <a:xfrm>
            <a:off x="4754880" y="2743200"/>
            <a:ext cx="2560320" cy="822960"/>
          </a:xfrm>
          <a:prstGeom prst="rect">
            <a:avLst/>
          </a:prstGeom>
          <a:solidFill>
            <a:srgbClr val="FCEFEF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pₜ：current student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high-noise distribution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6" name="Google Shape;436;p23"/>
          <p:cNvSpPr/>
          <p:nvPr/>
        </p:nvSpPr>
        <p:spPr>
          <a:xfrm>
            <a:off x="8595360" y="2743200"/>
            <a:ext cx="2560320" cy="822960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Forward KL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teacher → student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437" name="Google Shape;437;p23"/>
          <p:cNvCxnSpPr/>
          <p:nvPr/>
        </p:nvCxnSpPr>
        <p:spPr>
          <a:xfrm>
            <a:off x="3657600" y="3154680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8" name="Google Shape;438;p23"/>
          <p:cNvCxnSpPr/>
          <p:nvPr/>
        </p:nvCxnSpPr>
        <p:spPr>
          <a:xfrm>
            <a:off x="7498080" y="3154680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9" name="Google Shape;439;p23"/>
          <p:cNvSpPr/>
          <p:nvPr/>
        </p:nvSpPr>
        <p:spPr>
          <a:xfrm>
            <a:off x="914400" y="4343400"/>
            <a:ext cx="10149840" cy="54864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600"/>
              <a:buFont typeface="Noto San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914400" y="5349240"/>
            <a:ext cx="10149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450"/>
              <a:buFont typeface="Noto Sans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低雜訊 teacher 含有更多上下文，因此作為target。</a:t>
            </a:r>
            <a:endParaRPr b="0" i="0" sz="14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450"/>
              <a:buFont typeface="Noto Sans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高雜訊 student 在更困難 view 下學習與 teacher 相容的 token distribution。</a:t>
            </a:r>
            <a:endParaRPr b="0" i="0" sz="14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s16_sdc.png" id="441" name="Google Shape;4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4824" y="1371600"/>
            <a:ext cx="7397592" cy="868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16_equiv.png" id="442" name="Google Shape;44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93956" y="4389120"/>
            <a:ext cx="5590727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4"/>
          <p:cNvSpPr txBox="1"/>
          <p:nvPr/>
        </p:nvSpPr>
        <p:spPr>
          <a:xfrm>
            <a:off x="411480" y="23774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Part3: Proposed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411480" y="530352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Selected KL — intuitive 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" name="Google Shape;449;p24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0150">
            <a:solidFill>
              <a:srgbClr val="23313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50" name="Google Shape;450;p24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3175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51" name="Google Shape;451;p24"/>
          <p:cNvSpPr/>
          <p:nvPr/>
        </p:nvSpPr>
        <p:spPr>
          <a:xfrm>
            <a:off x="0" y="6638544"/>
            <a:ext cx="12191675" cy="219456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4"/>
          <p:cNvSpPr txBox="1"/>
          <p:nvPr/>
        </p:nvSpPr>
        <p:spPr>
          <a:xfrm>
            <a:off x="685800" y="1097280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SDC 只在「共同遮罩、非 padding、且 teacher 高信心」的位置計算 KL。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777240" y="1874519"/>
            <a:ext cx="3108960" cy="1371600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選擇哪些位置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共同被遮罩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不是 padding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teacher 有信心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4434840" y="1874519"/>
            <a:ext cx="3108960" cy="1371600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Teacher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低遮罩下的 soft prediction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作為學習目標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4"/>
          <p:cNvSpPr/>
          <p:nvPr/>
        </p:nvSpPr>
        <p:spPr>
          <a:xfrm>
            <a:off x="8092440" y="1874519"/>
            <a:ext cx="3108960" cy="1371600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Student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高遮罩下的預測分佈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需要向 teacher 對齊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6" name="Google Shape;456;p24"/>
          <p:cNvCxnSpPr/>
          <p:nvPr/>
        </p:nvCxnSpPr>
        <p:spPr>
          <a:xfrm>
            <a:off x="3931920" y="2560320"/>
            <a:ext cx="457200" cy="0"/>
          </a:xfrm>
          <a:prstGeom prst="straightConnector1">
            <a:avLst/>
          </a:prstGeom>
          <a:noFill/>
          <a:ln cap="flat" cmpd="sng" w="152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57" name="Google Shape;457;p24"/>
          <p:cNvCxnSpPr/>
          <p:nvPr/>
        </p:nvCxnSpPr>
        <p:spPr>
          <a:xfrm>
            <a:off x="7589520" y="2560320"/>
            <a:ext cx="457200" cy="0"/>
          </a:xfrm>
          <a:prstGeom prst="straightConnector1">
            <a:avLst/>
          </a:prstGeom>
          <a:noFill/>
          <a:ln cap="flat" cmpd="sng" w="152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58" name="Google Shape;458;p24"/>
          <p:cNvSpPr txBox="1"/>
          <p:nvPr/>
        </p:nvSpPr>
        <p:spPr>
          <a:xfrm>
            <a:off x="868680" y="38862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D839E"/>
                </a:solidFill>
                <a:latin typeface="Noto Sans"/>
                <a:ea typeface="Noto Sans"/>
                <a:cs typeface="Noto Sans"/>
                <a:sym typeface="Noto Sans"/>
              </a:rPr>
              <a:t>KL 對齊方向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4"/>
          <p:cNvSpPr txBox="1"/>
          <p:nvPr/>
        </p:nvSpPr>
        <p:spPr>
          <a:xfrm>
            <a:off x="868680" y="4279392"/>
            <a:ext cx="1005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Dₖₗ(qₛ ∥ pₜ)：讓高遮罩 student 學習低遮罩 teacher。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4"/>
          <p:cNvSpPr txBox="1"/>
          <p:nvPr/>
        </p:nvSpPr>
        <p:spPr>
          <a:xfrm>
            <a:off x="868680" y="4754880"/>
            <a:ext cx="9875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teacher 不只告訴模型「正確答案」，也提供其他候選 token 的相對可能性。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4"/>
          <p:cNvSpPr txBox="1"/>
          <p:nvPr/>
        </p:nvSpPr>
        <p:spPr>
          <a:xfrm>
            <a:off x="10835640" y="22860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22/42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5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5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Part3: Proposed method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9" name="Google Shape;469;p25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Training objective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0" name="Google Shape;470;p25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23/42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1" name="Google Shape;471;p25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p25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p25"/>
          <p:cNvSpPr/>
          <p:nvPr/>
        </p:nvSpPr>
        <p:spPr>
          <a:xfrm>
            <a:off x="868680" y="1417320"/>
            <a:ext cx="4754880" cy="64008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2200"/>
              <a:buFont typeface="Cambria Math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4" name="Google Shape;474;p25"/>
          <p:cNvSpPr/>
          <p:nvPr/>
        </p:nvSpPr>
        <p:spPr>
          <a:xfrm>
            <a:off x="6400800" y="1417320"/>
            <a:ext cx="4754880" cy="64008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2000"/>
              <a:buFont typeface="Cambria Math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5" name="Google Shape;475;p25"/>
          <p:cNvSpPr/>
          <p:nvPr/>
        </p:nvSpPr>
        <p:spPr>
          <a:xfrm>
            <a:off x="914400" y="2743200"/>
            <a:ext cx="2697480" cy="777240"/>
          </a:xfrm>
          <a:prstGeom prst="rect">
            <a:avLst/>
          </a:prstGeom>
          <a:solidFill>
            <a:srgbClr val="F0F3F5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Original MDLM loss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masked-token 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5"/>
          <p:cNvSpPr/>
          <p:nvPr/>
        </p:nvSpPr>
        <p:spPr>
          <a:xfrm>
            <a:off x="4754880" y="2743200"/>
            <a:ext cx="2697480" cy="777240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SDC loss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selected distribution KL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5"/>
          <p:cNvSpPr/>
          <p:nvPr/>
        </p:nvSpPr>
        <p:spPr>
          <a:xfrm>
            <a:off x="8595360" y="2743200"/>
            <a:ext cx="2697480" cy="777240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350"/>
              <a:buFont typeface="Noto Sans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Warmup weight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rise in first Tʷᵃʳᵐᵘᵖ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8" name="Google Shape;478;p25"/>
          <p:cNvCxnSpPr/>
          <p:nvPr/>
        </p:nvCxnSpPr>
        <p:spPr>
          <a:xfrm>
            <a:off x="3794760" y="3136392"/>
            <a:ext cx="77724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9" name="Google Shape;479;p25"/>
          <p:cNvCxnSpPr/>
          <p:nvPr/>
        </p:nvCxnSpPr>
        <p:spPr>
          <a:xfrm>
            <a:off x="7635240" y="3136392"/>
            <a:ext cx="77724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0" name="Google Shape;480;p25"/>
          <p:cNvSpPr/>
          <p:nvPr/>
        </p:nvSpPr>
        <p:spPr>
          <a:xfrm>
            <a:off x="914400" y="480060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480"/>
              <a:buFont typeface="Noto Sans"/>
              <a:buNone/>
            </a:pPr>
            <a:r>
              <a:rPr b="0" i="0" lang="en-US" sz="14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KL 權重在訓練前期逐步上升，避免 student 尚未穩定時引入過強的蒸餾梯度。</a:t>
            </a:r>
            <a:endParaRPr b="0" i="0" sz="14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480"/>
              <a:buFont typeface="Noto Sans"/>
              <a:buNone/>
            </a:pPr>
            <a:r>
              <a:rPr b="0" i="0" lang="en-US" sz="14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在本實驗中，主要使用 s : t = 0.5，KL warmup steps = 5000。</a:t>
            </a:r>
            <a:endParaRPr b="0" i="0" sz="14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descr="s17_total.png" id="481" name="Google Shape;48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2177" y="1444752"/>
            <a:ext cx="3947885" cy="585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17_beta.png" id="482" name="Google Shape;48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4830" y="1444752"/>
            <a:ext cx="3146819" cy="585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6"/>
          <p:cNvSpPr txBox="1"/>
          <p:nvPr/>
        </p:nvSpPr>
        <p:spPr>
          <a:xfrm>
            <a:off x="411480" y="23774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Part3: Proposed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6"/>
          <p:cNvSpPr txBox="1"/>
          <p:nvPr/>
        </p:nvSpPr>
        <p:spPr>
          <a:xfrm>
            <a:off x="411480" y="530352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Training objective — loss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9" name="Google Shape;489;p26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0150">
            <a:solidFill>
              <a:srgbClr val="23313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90" name="Google Shape;490;p26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3175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1" name="Google Shape;491;p26"/>
          <p:cNvSpPr/>
          <p:nvPr/>
        </p:nvSpPr>
        <p:spPr>
          <a:xfrm>
            <a:off x="0" y="6638544"/>
            <a:ext cx="12191675" cy="219456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6"/>
          <p:cNvSpPr txBox="1"/>
          <p:nvPr/>
        </p:nvSpPr>
        <p:spPr>
          <a:xfrm>
            <a:off x="685800" y="1097280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整體訓練目標由兩部分組成：原本的 token reconstruction loss，加上逐步增強的 SDC 對齊 loss。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822960" y="1847088"/>
            <a:ext cx="2880360" cy="1207008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Base MDLM loss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還原被遮罩 token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維持原本訓練目標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4526280" y="1847088"/>
            <a:ext cx="2880360" cy="1207008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SDC loss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對齊可靠位置的分佈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降低跨層級漂移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6"/>
          <p:cNvSpPr/>
          <p:nvPr/>
        </p:nvSpPr>
        <p:spPr>
          <a:xfrm>
            <a:off x="8229600" y="1847088"/>
            <a:ext cx="2880360" cy="1207008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Warmup weight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前期逐步增加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避免一開始約束太強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6"/>
          <p:cNvSpPr txBox="1"/>
          <p:nvPr/>
        </p:nvSpPr>
        <p:spPr>
          <a:xfrm>
            <a:off x="1051560" y="384048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Total loss = 原本重建 loss + SDC 對齊 loss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6"/>
          <p:cNvSpPr txBox="1"/>
          <p:nvPr/>
        </p:nvSpPr>
        <p:spPr>
          <a:xfrm>
            <a:off x="914400" y="4645152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前期先讓模型學會基本重建，再逐步加入分佈一致性。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這樣可以避免 teacher 與 student 尚未穩定時造成干擾。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6"/>
          <p:cNvSpPr txBox="1"/>
          <p:nvPr/>
        </p:nvSpPr>
        <p:spPr>
          <a:xfrm>
            <a:off x="10835640" y="22860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24/42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7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7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Part3: Proposed method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6" name="Google Shape;506;p27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SDC training procedure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7" name="Google Shape;507;p27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25/42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8" name="Google Shape;508;p27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9" name="Google Shape;509;p27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0" name="Google Shape;510;p27"/>
          <p:cNvSpPr/>
          <p:nvPr/>
        </p:nvSpPr>
        <p:spPr>
          <a:xfrm>
            <a:off x="685800" y="1234440"/>
            <a:ext cx="822960" cy="530352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Noto Sans"/>
              <a:buNone/>
            </a:pPr>
            <a:r>
              <a:rPr b="1" i="0" lang="en-US" sz="128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Step</a:t>
            </a:r>
            <a:endParaRPr b="0" i="0" sz="12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1" name="Google Shape;511;p27"/>
          <p:cNvSpPr/>
          <p:nvPr/>
        </p:nvSpPr>
        <p:spPr>
          <a:xfrm>
            <a:off x="1508760" y="1234440"/>
            <a:ext cx="10012680" cy="530352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Noto Sans"/>
              <a:buNone/>
            </a:pPr>
            <a:r>
              <a:rPr b="1" i="0" lang="en-US" sz="128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Operation</a:t>
            </a:r>
            <a:endParaRPr b="0" i="0" sz="12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2" name="Google Shape;512;p27"/>
          <p:cNvSpPr/>
          <p:nvPr/>
        </p:nvSpPr>
        <p:spPr>
          <a:xfrm>
            <a:off x="685800" y="1764792"/>
            <a:ext cx="82296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5"/>
              <a:buFont typeface="Noto Sans"/>
              <a:buNone/>
            </a:pPr>
            <a:r>
              <a:rPr b="1" i="0" lang="en-US" sz="12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b="0" i="0" sz="12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3" name="Google Shape;513;p27"/>
          <p:cNvSpPr/>
          <p:nvPr/>
        </p:nvSpPr>
        <p:spPr>
          <a:xfrm>
            <a:off x="1508760" y="1764792"/>
            <a:ext cx="1001268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5"/>
              <a:buFont typeface="Noto San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準備一批原始文字並決定遮罩程度</a:t>
            </a:r>
            <a:endParaRPr b="0" i="0" sz="12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4" name="Google Shape;514;p27"/>
          <p:cNvSpPr/>
          <p:nvPr/>
        </p:nvSpPr>
        <p:spPr>
          <a:xfrm>
            <a:off x="685800" y="2295144"/>
            <a:ext cx="822960" cy="530352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5"/>
              <a:buFont typeface="Noto Sans"/>
              <a:buNone/>
            </a:pPr>
            <a:r>
              <a:rPr b="1" i="0" lang="en-US" sz="12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0" i="0" sz="12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5" name="Google Shape;515;p27"/>
          <p:cNvSpPr/>
          <p:nvPr/>
        </p:nvSpPr>
        <p:spPr>
          <a:xfrm>
            <a:off x="1508760" y="2295144"/>
            <a:ext cx="10012680" cy="530352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5"/>
              <a:buFont typeface="Noto San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設定較低遮罩比例 s 與較高遮罩比例 t</a:t>
            </a:r>
            <a:endParaRPr b="0" i="0" sz="12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6" name="Google Shape;516;p27"/>
          <p:cNvSpPr/>
          <p:nvPr/>
        </p:nvSpPr>
        <p:spPr>
          <a:xfrm>
            <a:off x="685800" y="2825496"/>
            <a:ext cx="82296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5"/>
              <a:buFont typeface="Noto Sans"/>
              <a:buNone/>
            </a:pPr>
            <a:r>
              <a:rPr b="1" i="0" lang="en-US" sz="12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0" i="0" sz="12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7" name="Google Shape;517;p27"/>
          <p:cNvSpPr/>
          <p:nvPr/>
        </p:nvSpPr>
        <p:spPr>
          <a:xfrm>
            <a:off x="1508760" y="2825496"/>
            <a:ext cx="1001268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5"/>
              <a:buFont typeface="Noto San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產生低遮罩句子 xₛ 與高遮罩句子 xₜ</a:t>
            </a:r>
            <a:endParaRPr b="0" i="0" sz="12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8" name="Google Shape;518;p27"/>
          <p:cNvSpPr/>
          <p:nvPr/>
        </p:nvSpPr>
        <p:spPr>
          <a:xfrm>
            <a:off x="685800" y="3355848"/>
            <a:ext cx="822960" cy="530352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5"/>
              <a:buFont typeface="Noto Sans"/>
              <a:buNone/>
            </a:pPr>
            <a:r>
              <a:rPr b="1" i="0" lang="en-US" sz="12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b="0" i="0" sz="12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9" name="Google Shape;519;p27"/>
          <p:cNvSpPr/>
          <p:nvPr/>
        </p:nvSpPr>
        <p:spPr>
          <a:xfrm>
            <a:off x="1508760" y="3355848"/>
            <a:ext cx="10012680" cy="530352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5"/>
              <a:buFont typeface="Noto San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teacher 在 xₛ 上預測，student 在 xₜ 上預測</a:t>
            </a:r>
            <a:endParaRPr b="0" i="0" sz="12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0" name="Google Shape;520;p27"/>
          <p:cNvSpPr/>
          <p:nvPr/>
        </p:nvSpPr>
        <p:spPr>
          <a:xfrm>
            <a:off x="685800" y="3886200"/>
            <a:ext cx="82296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5"/>
              <a:buFont typeface="Noto Sans"/>
              <a:buNone/>
            </a:pPr>
            <a:r>
              <a:rPr b="1" i="0" lang="en-US" sz="12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b="0" i="0" sz="12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1" name="Google Shape;521;p27"/>
          <p:cNvSpPr/>
          <p:nvPr/>
        </p:nvSpPr>
        <p:spPr>
          <a:xfrm>
            <a:off x="1508760" y="3886200"/>
            <a:ext cx="1001268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5"/>
              <a:buFont typeface="Noto San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計算 teacher 對每個 token 的信心分數</a:t>
            </a:r>
            <a:endParaRPr b="0" i="0" sz="12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2" name="Google Shape;522;p27"/>
          <p:cNvSpPr/>
          <p:nvPr/>
        </p:nvSpPr>
        <p:spPr>
          <a:xfrm>
            <a:off x="685800" y="4416552"/>
            <a:ext cx="822960" cy="530352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5"/>
              <a:buFont typeface="Noto Sans"/>
              <a:buNone/>
            </a:pPr>
            <a:r>
              <a:rPr b="1" i="0" lang="en-US" sz="12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  <a:endParaRPr b="0" i="0" sz="12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3" name="Google Shape;523;p27"/>
          <p:cNvSpPr/>
          <p:nvPr/>
        </p:nvSpPr>
        <p:spPr>
          <a:xfrm>
            <a:off x="1508760" y="4416552"/>
            <a:ext cx="10012680" cy="530352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5"/>
              <a:buFont typeface="Noto San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只選共同遮罩、非 padding、且高信心的位置</a:t>
            </a:r>
            <a:endParaRPr b="0" i="0" sz="12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4" name="Google Shape;524;p27"/>
          <p:cNvSpPr/>
          <p:nvPr/>
        </p:nvSpPr>
        <p:spPr>
          <a:xfrm>
            <a:off x="685800" y="4946904"/>
            <a:ext cx="82296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5"/>
              <a:buFont typeface="Noto Sans"/>
              <a:buNone/>
            </a:pPr>
            <a:r>
              <a:rPr b="1" i="0" lang="en-US" sz="12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  <a:endParaRPr b="0" i="0" sz="12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5" name="Google Shape;525;p27"/>
          <p:cNvSpPr/>
          <p:nvPr/>
        </p:nvSpPr>
        <p:spPr>
          <a:xfrm>
            <a:off x="1508760" y="4946904"/>
            <a:ext cx="1001268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5"/>
              <a:buFont typeface="Noto San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合併原本重建 loss 與 SDC loss，更新模型</a:t>
            </a:r>
            <a:endParaRPr b="0" i="0" sz="12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8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Part3: Proposed method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3" name="Google Shape;533;p28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Training flow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4" name="Google Shape;534;p28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26/42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5" name="Google Shape;535;p28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6" name="Google Shape;536;p28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7" name="Google Shape;537;p28"/>
          <p:cNvSpPr/>
          <p:nvPr/>
        </p:nvSpPr>
        <p:spPr>
          <a:xfrm>
            <a:off x="594360" y="1645920"/>
            <a:ext cx="502920" cy="50292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8" name="Google Shape;538;p28"/>
          <p:cNvSpPr/>
          <p:nvPr/>
        </p:nvSpPr>
        <p:spPr>
          <a:xfrm>
            <a:off x="1234440" y="1554480"/>
            <a:ext cx="2606040" cy="685800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data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原始文字序列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9" name="Google Shape;539;p28"/>
          <p:cNvCxnSpPr/>
          <p:nvPr/>
        </p:nvCxnSpPr>
        <p:spPr>
          <a:xfrm>
            <a:off x="3995928" y="1892808"/>
            <a:ext cx="301752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0" name="Google Shape;540;p28"/>
          <p:cNvSpPr/>
          <p:nvPr/>
        </p:nvSpPr>
        <p:spPr>
          <a:xfrm>
            <a:off x="4480560" y="1645920"/>
            <a:ext cx="502920" cy="50292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1" name="Google Shape;541;p28"/>
          <p:cNvSpPr/>
          <p:nvPr/>
        </p:nvSpPr>
        <p:spPr>
          <a:xfrm>
            <a:off x="5120640" y="1554480"/>
            <a:ext cx="2606040" cy="685800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Choose mask levels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低遮罩與高遮罩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2" name="Google Shape;542;p28"/>
          <p:cNvCxnSpPr/>
          <p:nvPr/>
        </p:nvCxnSpPr>
        <p:spPr>
          <a:xfrm>
            <a:off x="7882128" y="1892808"/>
            <a:ext cx="301752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3" name="Google Shape;543;p28"/>
          <p:cNvSpPr/>
          <p:nvPr/>
        </p:nvSpPr>
        <p:spPr>
          <a:xfrm>
            <a:off x="8366760" y="1645920"/>
            <a:ext cx="502920" cy="50292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4" name="Google Shape;544;p28"/>
          <p:cNvSpPr/>
          <p:nvPr/>
        </p:nvSpPr>
        <p:spPr>
          <a:xfrm>
            <a:off x="9006840" y="1554480"/>
            <a:ext cx="2606040" cy="685800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Nested masks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建立可比較 views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8"/>
          <p:cNvSpPr/>
          <p:nvPr/>
        </p:nvSpPr>
        <p:spPr>
          <a:xfrm>
            <a:off x="594360" y="3840480"/>
            <a:ext cx="502920" cy="50292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6" name="Google Shape;546;p28"/>
          <p:cNvSpPr/>
          <p:nvPr/>
        </p:nvSpPr>
        <p:spPr>
          <a:xfrm>
            <a:off x="1234440" y="3749040"/>
            <a:ext cx="2606040" cy="685800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 prediction</a:t>
            </a:r>
            <a:endParaRPr b="1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學習還原 token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7" name="Google Shape;547;p28"/>
          <p:cNvCxnSpPr/>
          <p:nvPr/>
        </p:nvCxnSpPr>
        <p:spPr>
          <a:xfrm>
            <a:off x="3995928" y="4087368"/>
            <a:ext cx="301752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8" name="Google Shape;548;p28"/>
          <p:cNvSpPr/>
          <p:nvPr/>
        </p:nvSpPr>
        <p:spPr>
          <a:xfrm>
            <a:off x="4480560" y="3840480"/>
            <a:ext cx="502920" cy="50292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9" name="Google Shape;549;p28"/>
          <p:cNvSpPr/>
          <p:nvPr/>
        </p:nvSpPr>
        <p:spPr>
          <a:xfrm>
            <a:off x="5120640" y="3749040"/>
            <a:ext cx="2606040" cy="685800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Teacher guidance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只保留可靠訊號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0" name="Google Shape;550;p28"/>
          <p:cNvCxnSpPr/>
          <p:nvPr/>
        </p:nvCxnSpPr>
        <p:spPr>
          <a:xfrm>
            <a:off x="7882128" y="4087368"/>
            <a:ext cx="301752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1" name="Google Shape;551;p28"/>
          <p:cNvSpPr/>
          <p:nvPr/>
        </p:nvSpPr>
        <p:spPr>
          <a:xfrm>
            <a:off x="8366760" y="3840480"/>
            <a:ext cx="502920" cy="50292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2" name="Google Shape;552;p28"/>
          <p:cNvSpPr/>
          <p:nvPr/>
        </p:nvSpPr>
        <p:spPr>
          <a:xfrm>
            <a:off x="9006840" y="3749040"/>
            <a:ext cx="2606040" cy="685800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objective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更新模型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8"/>
          <p:cNvSpPr/>
          <p:nvPr/>
        </p:nvSpPr>
        <p:spPr>
          <a:xfrm>
            <a:off x="914400" y="5532120"/>
            <a:ext cx="10149840" cy="45720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50"/>
              <a:buFont typeface="Noto Sans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selected token = 共同遮罩、非 padding、且 teacher 高信心的位置</a:t>
            </a:r>
            <a:endParaRPr b="0" i="0" sz="15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9"/>
          <p:cNvSpPr/>
          <p:nvPr/>
        </p:nvSpPr>
        <p:spPr>
          <a:xfrm>
            <a:off x="5367528" y="384048"/>
            <a:ext cx="146304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839E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5D839E"/>
                </a:solidFill>
                <a:latin typeface="Noto Sans"/>
                <a:ea typeface="Noto Sans"/>
                <a:cs typeface="Noto Sans"/>
                <a:sym typeface="Noto Sans"/>
              </a:rPr>
              <a:t>SDC</a:t>
            </a:r>
            <a:endParaRPr b="0" i="0" sz="2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0" name="Google Shape;560;p29"/>
          <p:cNvSpPr/>
          <p:nvPr/>
        </p:nvSpPr>
        <p:spPr>
          <a:xfrm>
            <a:off x="0" y="1901952"/>
            <a:ext cx="12191695" cy="1280160"/>
          </a:xfrm>
          <a:prstGeom prst="rect">
            <a:avLst/>
          </a:prstGeom>
          <a:solidFill>
            <a:srgbClr val="5D83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Noto San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Experiment results</a:t>
            </a:r>
            <a:endParaRPr b="0" i="0" sz="3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61" name="Google Shape;561;p29"/>
          <p:cNvCxnSpPr/>
          <p:nvPr/>
        </p:nvCxnSpPr>
        <p:spPr>
          <a:xfrm>
            <a:off x="5779008" y="3794760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2" name="Google Shape;562;p29"/>
          <p:cNvSpPr/>
          <p:nvPr/>
        </p:nvSpPr>
        <p:spPr>
          <a:xfrm>
            <a:off x="5248656" y="4069080"/>
            <a:ext cx="1691640" cy="402336"/>
          </a:xfrm>
          <a:prstGeom prst="rect">
            <a:avLst/>
          </a:prstGeom>
          <a:solidFill>
            <a:srgbClr val="5D839E">
              <a:alpha val="9019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FOUR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3" name="Google Shape;563;p29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0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0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Part4: Experiment results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1" name="Google Shape;571;p30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Perplexity evaluation flow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2" name="Google Shape;572;p30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28/42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3" name="Google Shape;573;p30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4" name="Google Shape;574;p30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5" name="Google Shape;575;p30"/>
          <p:cNvSpPr/>
          <p:nvPr/>
        </p:nvSpPr>
        <p:spPr>
          <a:xfrm>
            <a:off x="685800" y="1152144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629"/>
              <a:buFont typeface="Noto Sans"/>
              <a:buNone/>
            </a:pPr>
            <a:r>
              <a:rPr b="1" i="0" lang="en-US" sz="163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Perplexity 用來評估模型在固定資料集上補回被遮罩文字的能力。</a:t>
            </a:r>
            <a:endParaRPr b="0" i="0" sz="163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6" name="Google Shape;576;p30"/>
          <p:cNvSpPr/>
          <p:nvPr/>
        </p:nvSpPr>
        <p:spPr>
          <a:xfrm>
            <a:off x="594360" y="2148840"/>
            <a:ext cx="1874520" cy="749808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80"/>
              <a:buFont typeface="Noto Sans"/>
              <a:buNone/>
            </a:pPr>
            <a:r>
              <a:rPr b="1" i="0" lang="en-US" sz="11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載入模型參數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7" name="Google Shape;577;p30"/>
          <p:cNvCxnSpPr/>
          <p:nvPr/>
        </p:nvCxnSpPr>
        <p:spPr>
          <a:xfrm>
            <a:off x="2560320" y="2523744"/>
            <a:ext cx="246888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8" name="Google Shape;578;p30"/>
          <p:cNvSpPr/>
          <p:nvPr/>
        </p:nvSpPr>
        <p:spPr>
          <a:xfrm>
            <a:off x="2926080" y="2148840"/>
            <a:ext cx="1874520" cy="749808"/>
          </a:xfrm>
          <a:prstGeom prst="rect">
            <a:avLst/>
          </a:prstGeom>
          <a:solidFill>
            <a:srgbClr val="F0F3F5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80"/>
              <a:buFont typeface="Noto Sans"/>
              <a:buNone/>
            </a:pPr>
            <a:r>
              <a:rPr b="1" i="0" lang="en-US" sz="11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讀取測試文字</a:t>
            </a:r>
            <a:endParaRPr b="0" i="0" sz="11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1" i="0" lang="en-US" sz="11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保留有效 token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9" name="Google Shape;579;p30"/>
          <p:cNvCxnSpPr/>
          <p:nvPr/>
        </p:nvCxnSpPr>
        <p:spPr>
          <a:xfrm>
            <a:off x="4892040" y="2523744"/>
            <a:ext cx="246888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0" name="Google Shape;580;p30"/>
          <p:cNvSpPr/>
          <p:nvPr/>
        </p:nvSpPr>
        <p:spPr>
          <a:xfrm>
            <a:off x="5257800" y="2148840"/>
            <a:ext cx="1874520" cy="749808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80"/>
              <a:buFont typeface="Noto Sans"/>
              <a:buNone/>
            </a:pPr>
            <a:r>
              <a:rPr b="1" i="0" lang="en-US" sz="11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隨機遮罩文字</a:t>
            </a:r>
            <a:endParaRPr b="0" i="0" sz="11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1" i="0" lang="en-US" sz="11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形成測試輸入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1" name="Google Shape;581;p30"/>
          <p:cNvCxnSpPr/>
          <p:nvPr/>
        </p:nvCxnSpPr>
        <p:spPr>
          <a:xfrm>
            <a:off x="7223760" y="2523744"/>
            <a:ext cx="246888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2" name="Google Shape;582;p30"/>
          <p:cNvSpPr/>
          <p:nvPr/>
        </p:nvSpPr>
        <p:spPr>
          <a:xfrm>
            <a:off x="7589520" y="2148840"/>
            <a:ext cx="1874520" cy="749808"/>
          </a:xfrm>
          <a:prstGeom prst="rect">
            <a:avLst/>
          </a:prstGeom>
          <a:solidFill>
            <a:srgbClr val="F0F3F5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1" i="0" lang="en-US" sz="11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模型預測原文計算正確 token 機率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3" name="Google Shape;583;p30"/>
          <p:cNvCxnSpPr/>
          <p:nvPr/>
        </p:nvCxnSpPr>
        <p:spPr>
          <a:xfrm>
            <a:off x="9555480" y="2523744"/>
            <a:ext cx="246888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4" name="Google Shape;584;p30"/>
          <p:cNvSpPr/>
          <p:nvPr/>
        </p:nvSpPr>
        <p:spPr>
          <a:xfrm>
            <a:off x="9921240" y="2148840"/>
            <a:ext cx="1874520" cy="749808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0"/>
              <a:buFont typeface="Arial"/>
              <a:buNone/>
            </a:pPr>
            <a:r>
              <a:rPr b="1" i="0" lang="en-US" sz="118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    轉成 PPL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0"/>
          <p:cNvSpPr/>
          <p:nvPr/>
        </p:nvSpPr>
        <p:spPr>
          <a:xfrm>
            <a:off x="2194560" y="3794760"/>
            <a:ext cx="7772400" cy="64008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179"/>
              </a:buClr>
              <a:buSzPts val="2100"/>
              <a:buFont typeface="Cambria Math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6" name="Google Shape;586;p30"/>
          <p:cNvSpPr/>
          <p:nvPr/>
        </p:nvSpPr>
        <p:spPr>
          <a:xfrm>
            <a:off x="868680" y="507492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450"/>
              <a:buFont typeface="Noto Sans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PPL 越低，代表模型越能補回正確 token。</a:t>
            </a:r>
            <a:endParaRPr b="0" i="0" sz="14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本研究同時觀察 OpenWebText 與多個跨資料集泛化測試。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21_ppl.png" id="587" name="Google Shape;58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0295" y="3822192"/>
            <a:ext cx="2520930" cy="585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1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Part4: Experiment results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5" name="Google Shape;595;p31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Generative Perplexity evaluation flow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6" name="Google Shape;596;p31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29/42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7" name="Google Shape;597;p31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8" name="Google Shape;598;p31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9" name="Google Shape;599;p31"/>
          <p:cNvSpPr/>
          <p:nvPr/>
        </p:nvSpPr>
        <p:spPr>
          <a:xfrm>
            <a:off x="685800" y="1152144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610"/>
              <a:buFont typeface="Noto Sans"/>
              <a:buNone/>
            </a:pPr>
            <a:r>
              <a:rPr b="1" i="0" lang="en-US" sz="161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Generative PPL 評估模型實際生成的文字是否自然；數值越低通常代表生成品質越好。</a:t>
            </a:r>
            <a:endParaRPr b="0" i="0" sz="16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0" name="Google Shape;600;p31"/>
          <p:cNvSpPr/>
          <p:nvPr/>
        </p:nvSpPr>
        <p:spPr>
          <a:xfrm>
            <a:off x="411480" y="2148840"/>
            <a:ext cx="1600200" cy="713232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20"/>
              <a:buFont typeface="Noto Sans"/>
              <a:buNone/>
            </a:pPr>
            <a:r>
              <a:rPr b="1" i="0" lang="en-US" sz="11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起始輸入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全部是 [MASK]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1" name="Google Shape;601;p31"/>
          <p:cNvCxnSpPr/>
          <p:nvPr/>
        </p:nvCxnSpPr>
        <p:spPr>
          <a:xfrm>
            <a:off x="2103120" y="2505456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2" name="Google Shape;602;p31"/>
          <p:cNvSpPr/>
          <p:nvPr/>
        </p:nvSpPr>
        <p:spPr>
          <a:xfrm>
            <a:off x="2331720" y="2148840"/>
            <a:ext cx="1600200" cy="713232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20"/>
              <a:buFont typeface="Noto Sans"/>
              <a:buNone/>
            </a:pPr>
            <a:r>
              <a:rPr b="1" i="0" lang="en-US" sz="11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逐步生成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多輪去遮罩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3" name="Google Shape;603;p31"/>
          <p:cNvCxnSpPr/>
          <p:nvPr/>
        </p:nvCxnSpPr>
        <p:spPr>
          <a:xfrm>
            <a:off x="4023360" y="2505456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4" name="Google Shape;604;p31"/>
          <p:cNvSpPr/>
          <p:nvPr/>
        </p:nvSpPr>
        <p:spPr>
          <a:xfrm>
            <a:off x="4251960" y="2148840"/>
            <a:ext cx="1600200" cy="713232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20"/>
              <a:buFont typeface="Noto Sans"/>
              <a:buNone/>
            </a:pPr>
            <a:r>
              <a:rPr b="1" i="0" lang="en-US" sz="11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轉回文字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得到生成樣本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5" name="Google Shape;605;p31"/>
          <p:cNvCxnSpPr/>
          <p:nvPr/>
        </p:nvCxnSpPr>
        <p:spPr>
          <a:xfrm>
            <a:off x="5943600" y="2505456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6" name="Google Shape;606;p31"/>
          <p:cNvSpPr/>
          <p:nvPr/>
        </p:nvSpPr>
        <p:spPr>
          <a:xfrm>
            <a:off x="6172200" y="2148840"/>
            <a:ext cx="1600200" cy="713232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20"/>
              <a:buFont typeface="Noto Sans"/>
              <a:buNone/>
            </a:pPr>
            <a:r>
              <a:rPr b="1" i="0" lang="en-US" sz="11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重新切詞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給評分模型使用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7" name="Google Shape;607;p31"/>
          <p:cNvCxnSpPr/>
          <p:nvPr/>
        </p:nvCxnSpPr>
        <p:spPr>
          <a:xfrm>
            <a:off x="7863840" y="2505456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8" name="Google Shape;608;p31"/>
          <p:cNvSpPr/>
          <p:nvPr/>
        </p:nvSpPr>
        <p:spPr>
          <a:xfrm>
            <a:off x="8092440" y="2148840"/>
            <a:ext cx="1600200" cy="713232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20"/>
              <a:buFont typeface="Noto Sans"/>
              <a:buNone/>
            </a:pPr>
            <a:r>
              <a:rPr b="1" i="0" lang="en-US" sz="11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外部語言模型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計算文字自然度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9" name="Google Shape;609;p31"/>
          <p:cNvCxnSpPr/>
          <p:nvPr/>
        </p:nvCxnSpPr>
        <p:spPr>
          <a:xfrm>
            <a:off x="9784080" y="2505456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3F617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0" name="Google Shape;610;p31"/>
          <p:cNvSpPr/>
          <p:nvPr/>
        </p:nvSpPr>
        <p:spPr>
          <a:xfrm>
            <a:off x="10012680" y="2148840"/>
            <a:ext cx="1600200" cy="713232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20"/>
              <a:buFont typeface="Noto Sans"/>
              <a:buNone/>
            </a:pPr>
            <a:r>
              <a:rPr b="1" i="0" lang="en-US" sz="11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GenPPL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生成品質指標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1"/>
          <p:cNvSpPr/>
          <p:nvPr/>
        </p:nvSpPr>
        <p:spPr>
          <a:xfrm>
            <a:off x="845818" y="4031320"/>
            <a:ext cx="10332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450"/>
              <a:buFont typeface="Noto Sans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這個指標不只看模型會不會補字，也看實際生成文字是否流暢。</a:t>
            </a:r>
            <a:endParaRPr b="0" i="0" sz="14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因此可補足 standard PPL 的觀察。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2"/>
          <p:cNvSpPr txBox="1"/>
          <p:nvPr/>
        </p:nvSpPr>
        <p:spPr>
          <a:xfrm>
            <a:off x="411480" y="23774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Part4: Experiment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2"/>
          <p:cNvSpPr txBox="1"/>
          <p:nvPr/>
        </p:nvSpPr>
        <p:spPr>
          <a:xfrm>
            <a:off x="411480" y="530352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Evaluation metrics — PPL vs GenPPL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8" name="Google Shape;618;p32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0150">
            <a:solidFill>
              <a:srgbClr val="23313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19" name="Google Shape;619;p32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3175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20" name="Google Shape;620;p32"/>
          <p:cNvSpPr/>
          <p:nvPr/>
        </p:nvSpPr>
        <p:spPr>
          <a:xfrm>
            <a:off x="0" y="6638544"/>
            <a:ext cx="12191675" cy="219456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2"/>
          <p:cNvSpPr txBox="1"/>
          <p:nvPr/>
        </p:nvSpPr>
        <p:spPr>
          <a:xfrm>
            <a:off x="685800" y="1097280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b="1" i="0" lang="en-US" sz="16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兩個指標評估不同面向：PPL 看補字能力，GenPPL 看實際生成文字品質。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32"/>
          <p:cNvSpPr/>
          <p:nvPr/>
        </p:nvSpPr>
        <p:spPr>
          <a:xfrm>
            <a:off x="868680" y="1847088"/>
            <a:ext cx="3840480" cy="1508760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Standard PPL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固定測試資料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遮罩後補回 token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評估還原能力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2"/>
          <p:cNvSpPr/>
          <p:nvPr/>
        </p:nvSpPr>
        <p:spPr>
          <a:xfrm>
            <a:off x="6812280" y="1847088"/>
            <a:ext cx="3840480" cy="1508760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Generative PPL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模型先生成文字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再由外部模型評分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評估文字自然度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4" name="Google Shape;624;p32"/>
          <p:cNvCxnSpPr/>
          <p:nvPr/>
        </p:nvCxnSpPr>
        <p:spPr>
          <a:xfrm>
            <a:off x="4800600" y="2606040"/>
            <a:ext cx="1920240" cy="0"/>
          </a:xfrm>
          <a:prstGeom prst="straightConnector1">
            <a:avLst/>
          </a:prstGeom>
          <a:noFill/>
          <a:ln cap="flat" cmpd="sng" w="152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25" name="Google Shape;625;p32"/>
          <p:cNvSpPr txBox="1"/>
          <p:nvPr/>
        </p:nvSpPr>
        <p:spPr>
          <a:xfrm>
            <a:off x="868680" y="3977639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D839E"/>
                </a:solidFill>
                <a:latin typeface="Noto Sans"/>
                <a:ea typeface="Noto Sans"/>
                <a:cs typeface="Noto Sans"/>
                <a:sym typeface="Noto Sans"/>
              </a:rPr>
              <a:t>重點差異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2"/>
          <p:cNvSpPr txBox="1"/>
          <p:nvPr/>
        </p:nvSpPr>
        <p:spPr>
          <a:xfrm>
            <a:off x="868680" y="4343400"/>
            <a:ext cx="10058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PPL 反映「補回正確 token」的能力。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GenPPL 反映「生成完整文字」的品質。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本實驗中，SDC 在兩種角度都帶來改善。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2"/>
          <p:cNvSpPr txBox="1"/>
          <p:nvPr/>
        </p:nvSpPr>
        <p:spPr>
          <a:xfrm>
            <a:off x="10835640" y="22860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30/42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3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Part4: Experiment results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5" name="Google Shape;635;p33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Experimental setup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6" name="Google Shape;636;p33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31/42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7" name="Google Shape;637;p33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p33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9" name="Google Shape;639;p33"/>
          <p:cNvSpPr/>
          <p:nvPr/>
        </p:nvSpPr>
        <p:spPr>
          <a:xfrm>
            <a:off x="762585" y="1161288"/>
            <a:ext cx="2971800" cy="43440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Noto Sans"/>
              <a:buNone/>
            </a:pPr>
            <a:r>
              <a:rPr b="1" i="0" lang="en-US" sz="118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Setting</a:t>
            </a:r>
            <a:endParaRPr b="0" i="0" sz="11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0" name="Google Shape;640;p33"/>
          <p:cNvSpPr/>
          <p:nvPr/>
        </p:nvSpPr>
        <p:spPr>
          <a:xfrm>
            <a:off x="3734385" y="1161288"/>
            <a:ext cx="7589400" cy="43440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"/>
              <a:buFont typeface="Noto Sans"/>
              <a:buNone/>
            </a:pPr>
            <a:r>
              <a:rPr b="1" i="0" lang="en-US" sz="118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Value</a:t>
            </a:r>
            <a:endParaRPr b="0" i="0" sz="11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1" name="Google Shape;641;p33"/>
          <p:cNvSpPr/>
          <p:nvPr/>
        </p:nvSpPr>
        <p:spPr>
          <a:xfrm>
            <a:off x="762585" y="1595628"/>
            <a:ext cx="2971800" cy="43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1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Pretraining corpus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2" name="Google Shape;642;p33"/>
          <p:cNvSpPr/>
          <p:nvPr/>
        </p:nvSpPr>
        <p:spPr>
          <a:xfrm>
            <a:off x="3734385" y="1595628"/>
            <a:ext cx="7589400" cy="43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0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OpenWebText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3" name="Google Shape;643;p33"/>
          <p:cNvSpPr/>
          <p:nvPr/>
        </p:nvSpPr>
        <p:spPr>
          <a:xfrm>
            <a:off x="762585" y="2029968"/>
            <a:ext cx="2971800" cy="4344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1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Baseline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4" name="Google Shape;644;p33"/>
          <p:cNvSpPr/>
          <p:nvPr/>
        </p:nvSpPr>
        <p:spPr>
          <a:xfrm>
            <a:off x="3734385" y="2029968"/>
            <a:ext cx="7589400" cy="4344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lang="en-US" sz="1155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MDLM small 設定</a:t>
            </a:r>
            <a:endParaRPr/>
          </a:p>
        </p:txBody>
      </p:sp>
      <p:sp>
        <p:nvSpPr>
          <p:cNvPr id="645" name="Google Shape;645;p33"/>
          <p:cNvSpPr/>
          <p:nvPr/>
        </p:nvSpPr>
        <p:spPr>
          <a:xfrm>
            <a:off x="762585" y="2464308"/>
            <a:ext cx="2971800" cy="43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1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模型架構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6" name="Google Shape;646;p33"/>
          <p:cNvSpPr/>
          <p:nvPr/>
        </p:nvSpPr>
        <p:spPr>
          <a:xfrm>
            <a:off x="3734385" y="2464308"/>
            <a:ext cx="7589400" cy="43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0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DiT + SUBS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7" name="Google Shape;647;p33"/>
          <p:cNvSpPr/>
          <p:nvPr/>
        </p:nvSpPr>
        <p:spPr>
          <a:xfrm>
            <a:off x="762585" y="2898648"/>
            <a:ext cx="2971800" cy="4344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1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Sequence length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8" name="Google Shape;648;p33"/>
          <p:cNvSpPr/>
          <p:nvPr/>
        </p:nvSpPr>
        <p:spPr>
          <a:xfrm>
            <a:off x="3734385" y="2898648"/>
            <a:ext cx="7589400" cy="4344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0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1024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9" name="Google Shape;649;p33"/>
          <p:cNvSpPr/>
          <p:nvPr/>
        </p:nvSpPr>
        <p:spPr>
          <a:xfrm>
            <a:off x="762585" y="3332988"/>
            <a:ext cx="2971800" cy="43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1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Training steps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0" name="Google Shape;650;p33"/>
          <p:cNvSpPr/>
          <p:nvPr/>
        </p:nvSpPr>
        <p:spPr>
          <a:xfrm>
            <a:off x="3734385" y="3332988"/>
            <a:ext cx="7589400" cy="43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0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20,000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1" name="Google Shape;651;p33"/>
          <p:cNvSpPr/>
          <p:nvPr/>
        </p:nvSpPr>
        <p:spPr>
          <a:xfrm>
            <a:off x="762585" y="3767328"/>
            <a:ext cx="2971800" cy="4344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整體 batch size</a:t>
            </a:r>
            <a:endParaRPr/>
          </a:p>
        </p:txBody>
      </p:sp>
      <p:sp>
        <p:nvSpPr>
          <p:cNvPr id="652" name="Google Shape;652;p33"/>
          <p:cNvSpPr/>
          <p:nvPr/>
        </p:nvSpPr>
        <p:spPr>
          <a:xfrm>
            <a:off x="3734385" y="3767328"/>
            <a:ext cx="7589400" cy="4344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0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512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3" name="Google Shape;653;p33"/>
          <p:cNvSpPr/>
          <p:nvPr/>
        </p:nvSpPr>
        <p:spPr>
          <a:xfrm>
            <a:off x="762585" y="4201668"/>
            <a:ext cx="2971800" cy="43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1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SDC teacher 設定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4" name="Google Shape;654;p33"/>
          <p:cNvSpPr/>
          <p:nvPr/>
        </p:nvSpPr>
        <p:spPr>
          <a:xfrm>
            <a:off x="3734385" y="4201668"/>
            <a:ext cx="7589400" cy="43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0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EMA teacher, decay 0.999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5" name="Google Shape;655;p33"/>
          <p:cNvSpPr/>
          <p:nvPr/>
        </p:nvSpPr>
        <p:spPr>
          <a:xfrm>
            <a:off x="762585" y="4636008"/>
            <a:ext cx="2971800" cy="4344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1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低/高遮罩比例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6" name="Google Shape;656;p33"/>
          <p:cNvSpPr/>
          <p:nvPr/>
        </p:nvSpPr>
        <p:spPr>
          <a:xfrm>
            <a:off x="3734385" y="4636008"/>
            <a:ext cx="7589400" cy="4344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0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 : t = 0.5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7" name="Google Shape;657;p33"/>
          <p:cNvSpPr/>
          <p:nvPr/>
        </p:nvSpPr>
        <p:spPr>
          <a:xfrm>
            <a:off x="762585" y="5070348"/>
            <a:ext cx="2971800" cy="43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1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KL 權重 warmup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8" name="Google Shape;658;p33"/>
          <p:cNvSpPr/>
          <p:nvPr/>
        </p:nvSpPr>
        <p:spPr>
          <a:xfrm>
            <a:off x="3734385" y="5070348"/>
            <a:ext cx="7589400" cy="43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0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5000 steps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9" name="Google Shape;659;p33"/>
          <p:cNvSpPr/>
          <p:nvPr/>
        </p:nvSpPr>
        <p:spPr>
          <a:xfrm>
            <a:off x="762585" y="5504688"/>
            <a:ext cx="2971800" cy="4344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1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PPL 評估資料集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0" name="Google Shape;660;p33"/>
          <p:cNvSpPr/>
          <p:nvPr/>
        </p:nvSpPr>
        <p:spPr>
          <a:xfrm>
            <a:off x="3734385" y="5504688"/>
            <a:ext cx="7589400" cy="43440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0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OWT, arXiv, WikiText103, LAMBADA, PTB, PubMed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1" name="Google Shape;661;p33"/>
          <p:cNvSpPr/>
          <p:nvPr/>
        </p:nvSpPr>
        <p:spPr>
          <a:xfrm>
            <a:off x="762585" y="5939028"/>
            <a:ext cx="2971800" cy="43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1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GenPPL 評分設定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2" name="Google Shape;662;p33"/>
          <p:cNvSpPr/>
          <p:nvPr/>
        </p:nvSpPr>
        <p:spPr>
          <a:xfrm>
            <a:off x="3734385" y="5939028"/>
            <a:ext cx="7589400" cy="43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155"/>
              <a:buFont typeface="Noto Sans"/>
              <a:buNone/>
            </a:pPr>
            <a:r>
              <a:rPr b="0" i="0" lang="en-US" sz="115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GPT-2 Large；每組 200 次生成</a:t>
            </a:r>
            <a:endParaRPr b="0" i="0" sz="115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4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4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Part4: Experiment results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0" name="Google Shape;670;p34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OpenWebText— Perplexity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1" name="Google Shape;671;p34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32/42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2" name="Google Shape;672;p34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3" name="Google Shape;673;p34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4" name="Google Shape;674;p34"/>
          <p:cNvSpPr/>
          <p:nvPr/>
        </p:nvSpPr>
        <p:spPr>
          <a:xfrm>
            <a:off x="685800" y="1024128"/>
            <a:ext cx="10287000" cy="3200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b="1" i="0" lang="en-US" sz="12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Test perplexities ：PPL 越低越好；Δ% 正值代表相較 Baseline 改善。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4"/>
          <p:cNvSpPr/>
          <p:nvPr/>
        </p:nvSpPr>
        <p:spPr>
          <a:xfrm>
            <a:off x="530352" y="1572768"/>
            <a:ext cx="1828800" cy="56692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Dataset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34"/>
          <p:cNvSpPr/>
          <p:nvPr/>
        </p:nvSpPr>
        <p:spPr>
          <a:xfrm>
            <a:off x="2359152" y="1572768"/>
            <a:ext cx="1874519" cy="56692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Baseline PPL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4"/>
          <p:cNvSpPr/>
          <p:nvPr/>
        </p:nvSpPr>
        <p:spPr>
          <a:xfrm>
            <a:off x="4233671" y="1572768"/>
            <a:ext cx="1737360" cy="56692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Conf.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34"/>
          <p:cNvSpPr/>
          <p:nvPr/>
        </p:nvSpPr>
        <p:spPr>
          <a:xfrm>
            <a:off x="5971031" y="1572768"/>
            <a:ext cx="1737360" cy="56692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Conf. 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34"/>
          <p:cNvSpPr/>
          <p:nvPr/>
        </p:nvSpPr>
        <p:spPr>
          <a:xfrm>
            <a:off x="7708391" y="1572768"/>
            <a:ext cx="1737360" cy="56692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Conf.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34"/>
          <p:cNvSpPr/>
          <p:nvPr/>
        </p:nvSpPr>
        <p:spPr>
          <a:xfrm>
            <a:off x="9445751" y="1572768"/>
            <a:ext cx="1737360" cy="56692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Conf. 0.3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34"/>
          <p:cNvSpPr/>
          <p:nvPr/>
        </p:nvSpPr>
        <p:spPr>
          <a:xfrm>
            <a:off x="530352" y="2139696"/>
            <a:ext cx="182880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openwebtext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4"/>
          <p:cNvSpPr/>
          <p:nvPr/>
        </p:nvSpPr>
        <p:spPr>
          <a:xfrm>
            <a:off x="2359152" y="2139696"/>
            <a:ext cx="1874519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34.672 ± 0.024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34"/>
          <p:cNvSpPr/>
          <p:nvPr/>
        </p:nvSpPr>
        <p:spPr>
          <a:xfrm>
            <a:off x="4233671" y="2139696"/>
            <a:ext cx="1737360" cy="804672"/>
          </a:xfrm>
          <a:prstGeom prst="rect">
            <a:avLst/>
          </a:prstGeom>
          <a:solidFill>
            <a:srgbClr val="E9F5EA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34.506 ± 0.026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+0.48%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34"/>
          <p:cNvSpPr/>
          <p:nvPr/>
        </p:nvSpPr>
        <p:spPr>
          <a:xfrm>
            <a:off x="5971031" y="2139696"/>
            <a:ext cx="173736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34.608 ± 0.027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+0.18%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34"/>
          <p:cNvSpPr/>
          <p:nvPr/>
        </p:nvSpPr>
        <p:spPr>
          <a:xfrm>
            <a:off x="7708391" y="2139696"/>
            <a:ext cx="173736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34.759 ± 0.029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−0.25%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4"/>
          <p:cNvSpPr/>
          <p:nvPr/>
        </p:nvSpPr>
        <p:spPr>
          <a:xfrm>
            <a:off x="9445751" y="2139696"/>
            <a:ext cx="173736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35.232 ± 0.025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−1.62%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4"/>
          <p:cNvSpPr/>
          <p:nvPr/>
        </p:nvSpPr>
        <p:spPr>
          <a:xfrm>
            <a:off x="896112" y="3246120"/>
            <a:ext cx="9601200" cy="566928"/>
          </a:xfrm>
          <a:prstGeom prst="rect">
            <a:avLst/>
          </a:prstGeom>
          <a:solidFill>
            <a:srgbClr val="EAF2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最佳設定：Conf. 0（+0.48%）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5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5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Part4: Experiment results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5" name="Google Shape;695;p35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Generalization tests — Perplexity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6" name="Google Shape;696;p35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33/42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7" name="Google Shape;697;p35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8" name="Google Shape;698;p35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9" name="Google Shape;699;p35"/>
          <p:cNvSpPr/>
          <p:nvPr/>
        </p:nvSpPr>
        <p:spPr>
          <a:xfrm>
            <a:off x="685800" y="1024128"/>
            <a:ext cx="10287000" cy="3200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b="1" i="0" lang="en-US" sz="12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其他泛化測試資料集。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5"/>
          <p:cNvSpPr/>
          <p:nvPr/>
        </p:nvSpPr>
        <p:spPr>
          <a:xfrm>
            <a:off x="457200" y="1362456"/>
            <a:ext cx="1417320" cy="402336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Dataset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35"/>
          <p:cNvSpPr/>
          <p:nvPr/>
        </p:nvSpPr>
        <p:spPr>
          <a:xfrm>
            <a:off x="1874520" y="1362456"/>
            <a:ext cx="1965960" cy="402336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Baseline PPL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5"/>
          <p:cNvSpPr/>
          <p:nvPr/>
        </p:nvSpPr>
        <p:spPr>
          <a:xfrm>
            <a:off x="3840480" y="1362456"/>
            <a:ext cx="1783080" cy="402336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Conf.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5"/>
          <p:cNvSpPr/>
          <p:nvPr/>
        </p:nvSpPr>
        <p:spPr>
          <a:xfrm>
            <a:off x="5623560" y="1362456"/>
            <a:ext cx="1783080" cy="402336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Conf. 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5"/>
          <p:cNvSpPr/>
          <p:nvPr/>
        </p:nvSpPr>
        <p:spPr>
          <a:xfrm>
            <a:off x="7406640" y="1362456"/>
            <a:ext cx="1783080" cy="402336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Conf.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5"/>
          <p:cNvSpPr/>
          <p:nvPr/>
        </p:nvSpPr>
        <p:spPr>
          <a:xfrm>
            <a:off x="9189720" y="1362456"/>
            <a:ext cx="1783080" cy="402336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0"/>
              <a:buFont typeface="Arial"/>
              <a:buNone/>
            </a:pPr>
            <a:r>
              <a:rPr b="1" i="0" lang="en-US" sz="93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Conf. 0.3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5"/>
          <p:cNvSpPr/>
          <p:nvPr/>
        </p:nvSpPr>
        <p:spPr>
          <a:xfrm>
            <a:off x="457200" y="1764792"/>
            <a:ext cx="14173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1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arXiv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5"/>
          <p:cNvSpPr/>
          <p:nvPr/>
        </p:nvSpPr>
        <p:spPr>
          <a:xfrm>
            <a:off x="1874520" y="1764792"/>
            <a:ext cx="196596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55.253 ± 0.080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35"/>
          <p:cNvSpPr/>
          <p:nvPr/>
        </p:nvSpPr>
        <p:spPr>
          <a:xfrm>
            <a:off x="3840480" y="1764792"/>
            <a:ext cx="178308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52.906 ± 0.098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+4.25%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5"/>
          <p:cNvSpPr/>
          <p:nvPr/>
        </p:nvSpPr>
        <p:spPr>
          <a:xfrm>
            <a:off x="5623560" y="1764792"/>
            <a:ext cx="178308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52.110 ± 0.082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+5.69%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5"/>
          <p:cNvSpPr/>
          <p:nvPr/>
        </p:nvSpPr>
        <p:spPr>
          <a:xfrm>
            <a:off x="7406640" y="1764792"/>
            <a:ext cx="178308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52.938 ± 0.102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+4.19%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35"/>
          <p:cNvSpPr/>
          <p:nvPr/>
        </p:nvSpPr>
        <p:spPr>
          <a:xfrm>
            <a:off x="9189720" y="1764792"/>
            <a:ext cx="1783080" cy="502920"/>
          </a:xfrm>
          <a:prstGeom prst="rect">
            <a:avLst/>
          </a:prstGeom>
          <a:solidFill>
            <a:srgbClr val="E9F5EA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51.780 ± 0.087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+6.29%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35"/>
          <p:cNvSpPr/>
          <p:nvPr/>
        </p:nvSpPr>
        <p:spPr>
          <a:xfrm>
            <a:off x="457200" y="2267712"/>
            <a:ext cx="14173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1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WikiText103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5"/>
          <p:cNvSpPr/>
          <p:nvPr/>
        </p:nvSpPr>
        <p:spPr>
          <a:xfrm>
            <a:off x="1874520" y="2267712"/>
            <a:ext cx="196596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59.380 ± 1.184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3840480" y="2267712"/>
            <a:ext cx="178308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59.579 ± 1.198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−0.34%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5"/>
          <p:cNvSpPr/>
          <p:nvPr/>
        </p:nvSpPr>
        <p:spPr>
          <a:xfrm>
            <a:off x="5623560" y="2267712"/>
            <a:ext cx="178308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59.072 ± 1.203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+0.52%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5"/>
          <p:cNvSpPr/>
          <p:nvPr/>
        </p:nvSpPr>
        <p:spPr>
          <a:xfrm>
            <a:off x="7406640" y="2267712"/>
            <a:ext cx="1783080" cy="502920"/>
          </a:xfrm>
          <a:prstGeom prst="rect">
            <a:avLst/>
          </a:prstGeom>
          <a:solidFill>
            <a:srgbClr val="E9F5EA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58.091 ± 1.119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+2.17%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5"/>
          <p:cNvSpPr/>
          <p:nvPr/>
        </p:nvSpPr>
        <p:spPr>
          <a:xfrm>
            <a:off x="9189720" y="2267712"/>
            <a:ext cx="178308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60.188 ± 1.233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−1.36%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5"/>
          <p:cNvSpPr/>
          <p:nvPr/>
        </p:nvSpPr>
        <p:spPr>
          <a:xfrm>
            <a:off x="457200" y="2770632"/>
            <a:ext cx="14173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1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LAMBADA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5"/>
          <p:cNvSpPr/>
          <p:nvPr/>
        </p:nvSpPr>
        <p:spPr>
          <a:xfrm>
            <a:off x="1874520" y="2770632"/>
            <a:ext cx="196596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64.270 ± 0.812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5"/>
          <p:cNvSpPr/>
          <p:nvPr/>
        </p:nvSpPr>
        <p:spPr>
          <a:xfrm>
            <a:off x="3840480" y="2770632"/>
            <a:ext cx="1783080" cy="502920"/>
          </a:xfrm>
          <a:prstGeom prst="rect">
            <a:avLst/>
          </a:prstGeom>
          <a:solidFill>
            <a:srgbClr val="E9F5EA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64.623 ± 0.919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−0.55%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35"/>
          <p:cNvSpPr/>
          <p:nvPr/>
        </p:nvSpPr>
        <p:spPr>
          <a:xfrm>
            <a:off x="5623560" y="2770632"/>
            <a:ext cx="178308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64.621 ± 0.905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−0.55%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5"/>
          <p:cNvSpPr/>
          <p:nvPr/>
        </p:nvSpPr>
        <p:spPr>
          <a:xfrm>
            <a:off x="7406640" y="2770632"/>
            <a:ext cx="178308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65.672 ± 0.884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−2.18%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5"/>
          <p:cNvSpPr/>
          <p:nvPr/>
        </p:nvSpPr>
        <p:spPr>
          <a:xfrm>
            <a:off x="9189720" y="2770632"/>
            <a:ext cx="178308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66.404 ± 0.948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−3.32%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35"/>
          <p:cNvSpPr/>
          <p:nvPr/>
        </p:nvSpPr>
        <p:spPr>
          <a:xfrm>
            <a:off x="457200" y="3273552"/>
            <a:ext cx="14173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1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PTB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35"/>
          <p:cNvSpPr/>
          <p:nvPr/>
        </p:nvSpPr>
        <p:spPr>
          <a:xfrm>
            <a:off x="1874520" y="3273552"/>
            <a:ext cx="196596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192.396 ± 5.060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5"/>
          <p:cNvSpPr/>
          <p:nvPr/>
        </p:nvSpPr>
        <p:spPr>
          <a:xfrm>
            <a:off x="3840480" y="3273552"/>
            <a:ext cx="178308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192.402 ± 5.194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−0.00%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5"/>
          <p:cNvSpPr/>
          <p:nvPr/>
        </p:nvSpPr>
        <p:spPr>
          <a:xfrm>
            <a:off x="5623560" y="3273552"/>
            <a:ext cx="178308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190.920 ± 5.343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+0.77%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5"/>
          <p:cNvSpPr/>
          <p:nvPr/>
        </p:nvSpPr>
        <p:spPr>
          <a:xfrm>
            <a:off x="7406640" y="3273552"/>
            <a:ext cx="1783080" cy="502920"/>
          </a:xfrm>
          <a:prstGeom prst="rect">
            <a:avLst/>
          </a:prstGeom>
          <a:solidFill>
            <a:srgbClr val="E9F5EA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187.746 ± 4.140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+2.42%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35"/>
          <p:cNvSpPr/>
          <p:nvPr/>
        </p:nvSpPr>
        <p:spPr>
          <a:xfrm>
            <a:off x="9189720" y="3273552"/>
            <a:ext cx="178308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189.089 ± 6.481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+1.72%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35"/>
          <p:cNvSpPr/>
          <p:nvPr/>
        </p:nvSpPr>
        <p:spPr>
          <a:xfrm>
            <a:off x="457200" y="3776472"/>
            <a:ext cx="14173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1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PubMed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5"/>
          <p:cNvSpPr/>
          <p:nvPr/>
        </p:nvSpPr>
        <p:spPr>
          <a:xfrm>
            <a:off x="1874520" y="3776472"/>
            <a:ext cx="196596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67.083 ± 0.116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3840480" y="3776472"/>
            <a:ext cx="178308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65.256 ± 0.088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+2.72%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35"/>
          <p:cNvSpPr/>
          <p:nvPr/>
        </p:nvSpPr>
        <p:spPr>
          <a:xfrm>
            <a:off x="5623560" y="3776472"/>
            <a:ext cx="1783080" cy="502920"/>
          </a:xfrm>
          <a:prstGeom prst="rect">
            <a:avLst/>
          </a:prstGeom>
          <a:solidFill>
            <a:srgbClr val="E9F5EA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64.154 ± 0.104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+4.37%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35"/>
          <p:cNvSpPr/>
          <p:nvPr/>
        </p:nvSpPr>
        <p:spPr>
          <a:xfrm>
            <a:off x="7406640" y="3776472"/>
            <a:ext cx="178308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65.398 ± 0.120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+2.51%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35"/>
          <p:cNvSpPr/>
          <p:nvPr/>
        </p:nvSpPr>
        <p:spPr>
          <a:xfrm>
            <a:off x="9189720" y="3776472"/>
            <a:ext cx="178308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64.172 ± 0.138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+4.34%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35"/>
          <p:cNvSpPr/>
          <p:nvPr/>
        </p:nvSpPr>
        <p:spPr>
          <a:xfrm>
            <a:off x="457200" y="4279392"/>
            <a:ext cx="1417320" cy="438912"/>
          </a:xfrm>
          <a:prstGeom prst="rect">
            <a:avLst/>
          </a:prstGeom>
          <a:solidFill>
            <a:srgbClr val="EAF2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None/>
            </a:pPr>
            <a:r>
              <a:rPr b="1" i="0" lang="en-US" sz="91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平均 Δ%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35"/>
          <p:cNvSpPr/>
          <p:nvPr/>
        </p:nvSpPr>
        <p:spPr>
          <a:xfrm>
            <a:off x="1874520" y="4279392"/>
            <a:ext cx="1965960" cy="438912"/>
          </a:xfrm>
          <a:prstGeom prst="rect">
            <a:avLst/>
          </a:prstGeom>
          <a:solidFill>
            <a:srgbClr val="EAF2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None/>
            </a:pPr>
            <a:r>
              <a:rPr b="1" i="0" lang="en-US" sz="91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35"/>
          <p:cNvSpPr/>
          <p:nvPr/>
        </p:nvSpPr>
        <p:spPr>
          <a:xfrm>
            <a:off x="3840480" y="4279392"/>
            <a:ext cx="1783080" cy="438912"/>
          </a:xfrm>
          <a:prstGeom prst="rect">
            <a:avLst/>
          </a:prstGeom>
          <a:solidFill>
            <a:srgbClr val="EAF2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None/>
            </a:pPr>
            <a:r>
              <a:rPr b="1" i="0" lang="en-US" sz="91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+1.22%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35"/>
          <p:cNvSpPr/>
          <p:nvPr/>
        </p:nvSpPr>
        <p:spPr>
          <a:xfrm>
            <a:off x="5623560" y="4279392"/>
            <a:ext cx="1783080" cy="438912"/>
          </a:xfrm>
          <a:prstGeom prst="rect">
            <a:avLst/>
          </a:prstGeom>
          <a:solidFill>
            <a:srgbClr val="E9F5EA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None/>
            </a:pPr>
            <a:r>
              <a:rPr b="1" i="0" lang="en-US" sz="91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+2.16%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35"/>
          <p:cNvSpPr/>
          <p:nvPr/>
        </p:nvSpPr>
        <p:spPr>
          <a:xfrm>
            <a:off x="7406640" y="4279392"/>
            <a:ext cx="1783080" cy="438912"/>
          </a:xfrm>
          <a:prstGeom prst="rect">
            <a:avLst/>
          </a:prstGeom>
          <a:solidFill>
            <a:srgbClr val="EAF2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None/>
            </a:pPr>
            <a:r>
              <a:rPr b="1" i="0" lang="en-US" sz="91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+1.82%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35"/>
          <p:cNvSpPr/>
          <p:nvPr/>
        </p:nvSpPr>
        <p:spPr>
          <a:xfrm>
            <a:off x="9189720" y="4279392"/>
            <a:ext cx="1783080" cy="438912"/>
          </a:xfrm>
          <a:prstGeom prst="rect">
            <a:avLst/>
          </a:prstGeom>
          <a:solidFill>
            <a:srgbClr val="EAF2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None/>
            </a:pPr>
            <a:r>
              <a:rPr b="1" i="0" lang="en-US" sz="91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+1.53%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35"/>
          <p:cNvSpPr/>
          <p:nvPr/>
        </p:nvSpPr>
        <p:spPr>
          <a:xfrm>
            <a:off x="896112" y="4800600"/>
            <a:ext cx="9555480" cy="411480"/>
          </a:xfrm>
          <a:prstGeom prst="rect">
            <a:avLst/>
          </a:prstGeom>
          <a:solidFill>
            <a:srgbClr val="EAF2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平均最佳 confidence：Conf. 0.1（+2.16%）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6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36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18275" lIns="36575" spcFirstLastPara="1" rIns="365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Part4: Experiment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6"/>
          <p:cNvSpPr/>
          <p:nvPr/>
        </p:nvSpPr>
        <p:spPr>
          <a:xfrm>
            <a:off x="411480" y="530352"/>
            <a:ext cx="6583680" cy="292608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18275" lIns="36575" spcFirstLastPara="1" rIns="365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Generative Perplexity vs. NFE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36"/>
          <p:cNvSpPr/>
          <p:nvPr/>
        </p:nvSpPr>
        <p:spPr>
          <a:xfrm>
            <a:off x="411480" y="896112"/>
            <a:ext cx="566928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gradFill>
            <a:gsLst>
              <a:gs pos="0">
                <a:srgbClr val="306CD7"/>
              </a:gs>
              <a:gs pos="100000">
                <a:srgbClr val="90B0FF"/>
              </a:gs>
            </a:gsLst>
            <a:lin ang="16200000" scaled="0"/>
          </a:gra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36"/>
          <p:cNvSpPr/>
          <p:nvPr/>
        </p:nvSpPr>
        <p:spPr>
          <a:xfrm>
            <a:off x="411480" y="896112"/>
            <a:ext cx="201168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gradFill>
            <a:gsLst>
              <a:gs pos="0">
                <a:srgbClr val="306CD7"/>
              </a:gs>
              <a:gs pos="100000">
                <a:srgbClr val="90B0FF"/>
              </a:gs>
            </a:gsLst>
            <a:lin ang="16200000" scaled="0"/>
          </a:gradFill>
          <a:ln cap="flat" cmpd="sng" w="254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36"/>
          <p:cNvSpPr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18275" lIns="36575" spcFirstLastPara="1" rIns="365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NFE 代表生成步數；GenPPL 越低，代表生成文字在外部語言模型下越自然。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36"/>
          <p:cNvSpPr/>
          <p:nvPr/>
        </p:nvSpPr>
        <p:spPr>
          <a:xfrm>
            <a:off x="502920" y="1481328"/>
            <a:ext cx="749808" cy="38404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NFE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36"/>
          <p:cNvSpPr/>
          <p:nvPr/>
        </p:nvSpPr>
        <p:spPr>
          <a:xfrm>
            <a:off x="1252728" y="1481328"/>
            <a:ext cx="960120" cy="38404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MDLM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36"/>
          <p:cNvSpPr/>
          <p:nvPr/>
        </p:nvSpPr>
        <p:spPr>
          <a:xfrm>
            <a:off x="2212848" y="1481328"/>
            <a:ext cx="987552" cy="38404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SDC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36"/>
          <p:cNvSpPr/>
          <p:nvPr/>
        </p:nvSpPr>
        <p:spPr>
          <a:xfrm>
            <a:off x="3200400" y="1481328"/>
            <a:ext cx="1024128" cy="38404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SDC 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36"/>
          <p:cNvSpPr/>
          <p:nvPr/>
        </p:nvSpPr>
        <p:spPr>
          <a:xfrm>
            <a:off x="4224528" y="1481328"/>
            <a:ext cx="1024128" cy="38404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SDC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36"/>
          <p:cNvSpPr/>
          <p:nvPr/>
        </p:nvSpPr>
        <p:spPr>
          <a:xfrm>
            <a:off x="5248656" y="1481328"/>
            <a:ext cx="1024128" cy="38404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SDC 0.3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36"/>
          <p:cNvSpPr/>
          <p:nvPr/>
        </p:nvSpPr>
        <p:spPr>
          <a:xfrm>
            <a:off x="502920" y="1865376"/>
            <a:ext cx="74980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36"/>
          <p:cNvSpPr/>
          <p:nvPr/>
        </p:nvSpPr>
        <p:spPr>
          <a:xfrm>
            <a:off x="1252728" y="1865376"/>
            <a:ext cx="96012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118.48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36"/>
          <p:cNvSpPr/>
          <p:nvPr/>
        </p:nvSpPr>
        <p:spPr>
          <a:xfrm>
            <a:off x="2212848" y="1865376"/>
            <a:ext cx="987552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110.57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36"/>
          <p:cNvSpPr/>
          <p:nvPr/>
        </p:nvSpPr>
        <p:spPr>
          <a:xfrm>
            <a:off x="3200400" y="1865376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100.09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36"/>
          <p:cNvSpPr/>
          <p:nvPr/>
        </p:nvSpPr>
        <p:spPr>
          <a:xfrm>
            <a:off x="4224528" y="1865376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89.47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36"/>
          <p:cNvSpPr/>
          <p:nvPr/>
        </p:nvSpPr>
        <p:spPr>
          <a:xfrm>
            <a:off x="5248656" y="1865376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F7A4D"/>
                </a:solidFill>
                <a:latin typeface="Noto Sans"/>
                <a:ea typeface="Noto Sans"/>
                <a:cs typeface="Noto Sans"/>
                <a:sym typeface="Noto Sans"/>
              </a:rPr>
              <a:t>79.45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36"/>
          <p:cNvSpPr/>
          <p:nvPr/>
        </p:nvSpPr>
        <p:spPr>
          <a:xfrm>
            <a:off x="502920" y="2249424"/>
            <a:ext cx="74980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36"/>
          <p:cNvSpPr/>
          <p:nvPr/>
        </p:nvSpPr>
        <p:spPr>
          <a:xfrm>
            <a:off x="1252728" y="2249424"/>
            <a:ext cx="96012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97.86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36"/>
          <p:cNvSpPr/>
          <p:nvPr/>
        </p:nvSpPr>
        <p:spPr>
          <a:xfrm>
            <a:off x="2212848" y="2249424"/>
            <a:ext cx="987552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90.43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36"/>
          <p:cNvSpPr/>
          <p:nvPr/>
        </p:nvSpPr>
        <p:spPr>
          <a:xfrm>
            <a:off x="3200400" y="2249424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83.06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36"/>
          <p:cNvSpPr/>
          <p:nvPr/>
        </p:nvSpPr>
        <p:spPr>
          <a:xfrm>
            <a:off x="4224528" y="2249424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71.57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36"/>
          <p:cNvSpPr/>
          <p:nvPr/>
        </p:nvSpPr>
        <p:spPr>
          <a:xfrm>
            <a:off x="5248656" y="2249424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F7A4D"/>
                </a:solidFill>
                <a:latin typeface="Noto Sans"/>
                <a:ea typeface="Noto Sans"/>
                <a:cs typeface="Noto Sans"/>
                <a:sym typeface="Noto Sans"/>
              </a:rPr>
              <a:t>64.45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36"/>
          <p:cNvSpPr/>
          <p:nvPr/>
        </p:nvSpPr>
        <p:spPr>
          <a:xfrm>
            <a:off x="502920" y="2633472"/>
            <a:ext cx="74980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256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36"/>
          <p:cNvSpPr/>
          <p:nvPr/>
        </p:nvSpPr>
        <p:spPr>
          <a:xfrm>
            <a:off x="1252728" y="2633472"/>
            <a:ext cx="96012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79.45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36"/>
          <p:cNvSpPr/>
          <p:nvPr/>
        </p:nvSpPr>
        <p:spPr>
          <a:xfrm>
            <a:off x="2212848" y="2633472"/>
            <a:ext cx="987552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71.32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36"/>
          <p:cNvSpPr/>
          <p:nvPr/>
        </p:nvSpPr>
        <p:spPr>
          <a:xfrm>
            <a:off x="3200400" y="2633472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66.26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36"/>
          <p:cNvSpPr/>
          <p:nvPr/>
        </p:nvSpPr>
        <p:spPr>
          <a:xfrm>
            <a:off x="4224528" y="2633472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57.43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36"/>
          <p:cNvSpPr/>
          <p:nvPr/>
        </p:nvSpPr>
        <p:spPr>
          <a:xfrm>
            <a:off x="5248656" y="2633472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F7A4D"/>
                </a:solidFill>
                <a:latin typeface="Noto Sans"/>
                <a:ea typeface="Noto Sans"/>
                <a:cs typeface="Noto Sans"/>
                <a:sym typeface="Noto Sans"/>
              </a:rPr>
              <a:t>51.33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36"/>
          <p:cNvSpPr/>
          <p:nvPr/>
        </p:nvSpPr>
        <p:spPr>
          <a:xfrm>
            <a:off x="502920" y="3017520"/>
            <a:ext cx="74980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36"/>
          <p:cNvSpPr/>
          <p:nvPr/>
        </p:nvSpPr>
        <p:spPr>
          <a:xfrm>
            <a:off x="1252728" y="3017520"/>
            <a:ext cx="96012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61.87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36"/>
          <p:cNvSpPr/>
          <p:nvPr/>
        </p:nvSpPr>
        <p:spPr>
          <a:xfrm>
            <a:off x="2212848" y="3017520"/>
            <a:ext cx="987552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59.24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36"/>
          <p:cNvSpPr/>
          <p:nvPr/>
        </p:nvSpPr>
        <p:spPr>
          <a:xfrm>
            <a:off x="3200400" y="3017520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54.57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36"/>
          <p:cNvSpPr/>
          <p:nvPr/>
        </p:nvSpPr>
        <p:spPr>
          <a:xfrm>
            <a:off x="4224528" y="3017520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45.75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36"/>
          <p:cNvSpPr/>
          <p:nvPr/>
        </p:nvSpPr>
        <p:spPr>
          <a:xfrm>
            <a:off x="5248656" y="3017520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F7A4D"/>
                </a:solidFill>
                <a:latin typeface="Noto Sans"/>
                <a:ea typeface="Noto Sans"/>
                <a:cs typeface="Noto Sans"/>
                <a:sym typeface="Noto Sans"/>
              </a:rPr>
              <a:t>42.83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36"/>
          <p:cNvSpPr/>
          <p:nvPr/>
        </p:nvSpPr>
        <p:spPr>
          <a:xfrm>
            <a:off x="502920" y="3401568"/>
            <a:ext cx="74980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768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36"/>
          <p:cNvSpPr/>
          <p:nvPr/>
        </p:nvSpPr>
        <p:spPr>
          <a:xfrm>
            <a:off x="1252728" y="3401568"/>
            <a:ext cx="96012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55.26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36"/>
          <p:cNvSpPr/>
          <p:nvPr/>
        </p:nvSpPr>
        <p:spPr>
          <a:xfrm>
            <a:off x="2212848" y="3401568"/>
            <a:ext cx="987552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51.10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36"/>
          <p:cNvSpPr/>
          <p:nvPr/>
        </p:nvSpPr>
        <p:spPr>
          <a:xfrm>
            <a:off x="3200400" y="3401568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48.51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36"/>
          <p:cNvSpPr/>
          <p:nvPr/>
        </p:nvSpPr>
        <p:spPr>
          <a:xfrm>
            <a:off x="4224528" y="3401568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41.09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36"/>
          <p:cNvSpPr/>
          <p:nvPr/>
        </p:nvSpPr>
        <p:spPr>
          <a:xfrm>
            <a:off x="5248656" y="3401568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F7A4D"/>
                </a:solidFill>
                <a:latin typeface="Noto Sans"/>
                <a:ea typeface="Noto Sans"/>
                <a:cs typeface="Noto Sans"/>
                <a:sym typeface="Noto Sans"/>
              </a:rPr>
              <a:t>37.03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36"/>
          <p:cNvSpPr/>
          <p:nvPr/>
        </p:nvSpPr>
        <p:spPr>
          <a:xfrm>
            <a:off x="502920" y="3785616"/>
            <a:ext cx="74980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6"/>
          <p:cNvSpPr/>
          <p:nvPr/>
        </p:nvSpPr>
        <p:spPr>
          <a:xfrm>
            <a:off x="1252728" y="3785616"/>
            <a:ext cx="96012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49.30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36"/>
          <p:cNvSpPr/>
          <p:nvPr/>
        </p:nvSpPr>
        <p:spPr>
          <a:xfrm>
            <a:off x="2212848" y="3785616"/>
            <a:ext cx="987552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48.37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36"/>
          <p:cNvSpPr/>
          <p:nvPr/>
        </p:nvSpPr>
        <p:spPr>
          <a:xfrm>
            <a:off x="3200400" y="3785616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44.98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36"/>
          <p:cNvSpPr/>
          <p:nvPr/>
        </p:nvSpPr>
        <p:spPr>
          <a:xfrm>
            <a:off x="4224528" y="3785616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37.80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36"/>
          <p:cNvSpPr/>
          <p:nvPr/>
        </p:nvSpPr>
        <p:spPr>
          <a:xfrm>
            <a:off x="5248656" y="3785616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F7A4D"/>
                </a:solidFill>
                <a:latin typeface="Noto Sans"/>
                <a:ea typeface="Noto Sans"/>
                <a:cs typeface="Noto Sans"/>
                <a:sym typeface="Noto Sans"/>
              </a:rPr>
              <a:t>35.25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36"/>
          <p:cNvSpPr/>
          <p:nvPr/>
        </p:nvSpPr>
        <p:spPr>
          <a:xfrm>
            <a:off x="502920" y="4169664"/>
            <a:ext cx="749808" cy="384048"/>
          </a:xfrm>
          <a:prstGeom prst="rect">
            <a:avLst/>
          </a:prstGeom>
          <a:solidFill>
            <a:srgbClr val="E8F1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Avg Δ%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36"/>
          <p:cNvSpPr/>
          <p:nvPr/>
        </p:nvSpPr>
        <p:spPr>
          <a:xfrm>
            <a:off x="1252728" y="4169664"/>
            <a:ext cx="960120" cy="384048"/>
          </a:xfrm>
          <a:prstGeom prst="rect">
            <a:avLst/>
          </a:prstGeom>
          <a:solidFill>
            <a:srgbClr val="E8F1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6"/>
          <p:cNvSpPr/>
          <p:nvPr/>
        </p:nvSpPr>
        <p:spPr>
          <a:xfrm>
            <a:off x="2212848" y="4169664"/>
            <a:ext cx="987552" cy="384048"/>
          </a:xfrm>
          <a:prstGeom prst="rect">
            <a:avLst/>
          </a:prstGeom>
          <a:solidFill>
            <a:srgbClr val="E8F1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+6.36%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36"/>
          <p:cNvSpPr/>
          <p:nvPr/>
        </p:nvSpPr>
        <p:spPr>
          <a:xfrm>
            <a:off x="3200400" y="4169664"/>
            <a:ext cx="1024128" cy="384048"/>
          </a:xfrm>
          <a:prstGeom prst="rect">
            <a:avLst/>
          </a:prstGeom>
          <a:solidFill>
            <a:srgbClr val="E8F1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+13.33%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36"/>
          <p:cNvSpPr/>
          <p:nvPr/>
        </p:nvSpPr>
        <p:spPr>
          <a:xfrm>
            <a:off x="4224528" y="4169664"/>
            <a:ext cx="1024128" cy="384048"/>
          </a:xfrm>
          <a:prstGeom prst="rect">
            <a:avLst/>
          </a:prstGeom>
          <a:solidFill>
            <a:srgbClr val="E8F1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+25.68%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36"/>
          <p:cNvSpPr/>
          <p:nvPr/>
        </p:nvSpPr>
        <p:spPr>
          <a:xfrm>
            <a:off x="5248656" y="4169664"/>
            <a:ext cx="1024128" cy="384048"/>
          </a:xfrm>
          <a:prstGeom prst="rect">
            <a:avLst/>
          </a:prstGeom>
          <a:solidFill>
            <a:srgbClr val="E8F1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+32.46%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36"/>
          <p:cNvSpPr/>
          <p:nvPr/>
        </p:nvSpPr>
        <p:spPr>
          <a:xfrm>
            <a:off x="6720840" y="1417320"/>
            <a:ext cx="5074920" cy="3154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enppl_vs_nfe.png" id="802" name="Google Shape;80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3077" y="1453896"/>
            <a:ext cx="4930444" cy="3081528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36"/>
          <p:cNvSpPr/>
          <p:nvPr/>
        </p:nvSpPr>
        <p:spPr>
          <a:xfrm>
            <a:off x="6903720" y="4709160"/>
            <a:ext cx="4663440" cy="640080"/>
          </a:xfrm>
          <a:prstGeom prst="rect">
            <a:avLst/>
          </a:prstGeom>
          <a:solidFill>
            <a:srgbClr val="E8F1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18275" lIns="73150" spcFirstLastPara="1" rIns="731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最佳：MDLM-SDC 0.3</a:t>
            </a:r>
            <a:br>
              <a:rPr b="1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b="1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平均 GenPPL 77.04 → 51.72，平均改善 32.46%。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36"/>
          <p:cNvSpPr/>
          <p:nvPr/>
        </p:nvSpPr>
        <p:spPr>
          <a:xfrm>
            <a:off x="685800" y="5897880"/>
            <a:ext cx="10515600" cy="3200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18275" lIns="36575" spcFirstLastPara="1" rIns="365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觀察：信心門檻提高後，GenPPL 明顯下降；在所有生成步數下，Conf. 0.3 皆為最佳。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36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34/42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7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37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18275" lIns="36575" spcFirstLastPara="1" rIns="365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Part4: Experiment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37"/>
          <p:cNvSpPr/>
          <p:nvPr/>
        </p:nvSpPr>
        <p:spPr>
          <a:xfrm>
            <a:off x="411480" y="530352"/>
            <a:ext cx="6583680" cy="292608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18275" lIns="36575" spcFirstLastPara="1" rIns="365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Generation Entropy vs. NFE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37"/>
          <p:cNvSpPr/>
          <p:nvPr/>
        </p:nvSpPr>
        <p:spPr>
          <a:xfrm>
            <a:off x="411480" y="896112"/>
            <a:ext cx="566928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gradFill>
            <a:gsLst>
              <a:gs pos="0">
                <a:srgbClr val="306CD7"/>
              </a:gs>
              <a:gs pos="100000">
                <a:srgbClr val="90B0FF"/>
              </a:gs>
            </a:gsLst>
            <a:lin ang="16200000" scaled="0"/>
          </a:gra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37"/>
          <p:cNvSpPr/>
          <p:nvPr/>
        </p:nvSpPr>
        <p:spPr>
          <a:xfrm>
            <a:off x="411480" y="896112"/>
            <a:ext cx="201168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gradFill>
            <a:gsLst>
              <a:gs pos="0">
                <a:srgbClr val="306CD7"/>
              </a:gs>
              <a:gs pos="100000">
                <a:srgbClr val="90B0FF"/>
              </a:gs>
            </a:gsLst>
            <a:lin ang="16200000" scaled="0"/>
          </a:gradFill>
          <a:ln cap="flat" cmpd="sng" w="254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37"/>
          <p:cNvSpPr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18275" lIns="36575" spcFirstLastPara="1" rIns="365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Generation entropy 反映生成分佈的分散程度；數值較低表示模型選詞更集中。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37"/>
          <p:cNvSpPr/>
          <p:nvPr/>
        </p:nvSpPr>
        <p:spPr>
          <a:xfrm>
            <a:off x="502920" y="1481328"/>
            <a:ext cx="749808" cy="38404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NFE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37"/>
          <p:cNvSpPr/>
          <p:nvPr/>
        </p:nvSpPr>
        <p:spPr>
          <a:xfrm>
            <a:off x="1252728" y="1481328"/>
            <a:ext cx="960120" cy="38404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MDLM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37"/>
          <p:cNvSpPr/>
          <p:nvPr/>
        </p:nvSpPr>
        <p:spPr>
          <a:xfrm>
            <a:off x="2212848" y="1481328"/>
            <a:ext cx="987552" cy="38404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SDC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37"/>
          <p:cNvSpPr/>
          <p:nvPr/>
        </p:nvSpPr>
        <p:spPr>
          <a:xfrm>
            <a:off x="3200400" y="1481328"/>
            <a:ext cx="1024128" cy="38404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SDC 0.1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37"/>
          <p:cNvSpPr/>
          <p:nvPr/>
        </p:nvSpPr>
        <p:spPr>
          <a:xfrm>
            <a:off x="4224528" y="1481328"/>
            <a:ext cx="1024128" cy="38404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SDC 0.2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37"/>
          <p:cNvSpPr/>
          <p:nvPr/>
        </p:nvSpPr>
        <p:spPr>
          <a:xfrm>
            <a:off x="5248656" y="1481328"/>
            <a:ext cx="1024128" cy="384048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SDC 0.3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37"/>
          <p:cNvSpPr/>
          <p:nvPr/>
        </p:nvSpPr>
        <p:spPr>
          <a:xfrm>
            <a:off x="502920" y="1865376"/>
            <a:ext cx="74980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37"/>
          <p:cNvSpPr/>
          <p:nvPr/>
        </p:nvSpPr>
        <p:spPr>
          <a:xfrm>
            <a:off x="1252728" y="1865376"/>
            <a:ext cx="96012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7.2086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37"/>
          <p:cNvSpPr/>
          <p:nvPr/>
        </p:nvSpPr>
        <p:spPr>
          <a:xfrm>
            <a:off x="2212848" y="1865376"/>
            <a:ext cx="987552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7.2007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37"/>
          <p:cNvSpPr/>
          <p:nvPr/>
        </p:nvSpPr>
        <p:spPr>
          <a:xfrm>
            <a:off x="3200400" y="1865376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7.1318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37"/>
          <p:cNvSpPr/>
          <p:nvPr/>
        </p:nvSpPr>
        <p:spPr>
          <a:xfrm>
            <a:off x="4224528" y="1865376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7.0500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37"/>
          <p:cNvSpPr/>
          <p:nvPr/>
        </p:nvSpPr>
        <p:spPr>
          <a:xfrm>
            <a:off x="5248656" y="1865376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F7A4D"/>
                </a:solidFill>
                <a:latin typeface="Noto Sans"/>
                <a:ea typeface="Noto Sans"/>
                <a:cs typeface="Noto Sans"/>
                <a:sym typeface="Noto Sans"/>
              </a:rPr>
              <a:t>6.9740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37"/>
          <p:cNvSpPr/>
          <p:nvPr/>
        </p:nvSpPr>
        <p:spPr>
          <a:xfrm>
            <a:off x="502920" y="2249424"/>
            <a:ext cx="74980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37"/>
          <p:cNvSpPr/>
          <p:nvPr/>
        </p:nvSpPr>
        <p:spPr>
          <a:xfrm>
            <a:off x="1252728" y="2249424"/>
            <a:ext cx="96012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7.1284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37"/>
          <p:cNvSpPr/>
          <p:nvPr/>
        </p:nvSpPr>
        <p:spPr>
          <a:xfrm>
            <a:off x="2212848" y="2249424"/>
            <a:ext cx="987552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7.1124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37"/>
          <p:cNvSpPr/>
          <p:nvPr/>
        </p:nvSpPr>
        <p:spPr>
          <a:xfrm>
            <a:off x="3200400" y="2249424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7.0617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37"/>
          <p:cNvSpPr/>
          <p:nvPr/>
        </p:nvSpPr>
        <p:spPr>
          <a:xfrm>
            <a:off x="4224528" y="2249424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6.9532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37"/>
          <p:cNvSpPr/>
          <p:nvPr/>
        </p:nvSpPr>
        <p:spPr>
          <a:xfrm>
            <a:off x="5248656" y="2249424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F7A4D"/>
                </a:solidFill>
                <a:latin typeface="Noto Sans"/>
                <a:ea typeface="Noto Sans"/>
                <a:cs typeface="Noto Sans"/>
                <a:sym typeface="Noto Sans"/>
              </a:rPr>
              <a:t>6.8688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7"/>
          <p:cNvSpPr/>
          <p:nvPr/>
        </p:nvSpPr>
        <p:spPr>
          <a:xfrm>
            <a:off x="502920" y="2633472"/>
            <a:ext cx="74980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256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37"/>
          <p:cNvSpPr/>
          <p:nvPr/>
        </p:nvSpPr>
        <p:spPr>
          <a:xfrm>
            <a:off x="1252728" y="2633472"/>
            <a:ext cx="96012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7.0122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37"/>
          <p:cNvSpPr/>
          <p:nvPr/>
        </p:nvSpPr>
        <p:spPr>
          <a:xfrm>
            <a:off x="2212848" y="2633472"/>
            <a:ext cx="987552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6.9813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37"/>
          <p:cNvSpPr/>
          <p:nvPr/>
        </p:nvSpPr>
        <p:spPr>
          <a:xfrm>
            <a:off x="3200400" y="2633472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6.9284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37"/>
          <p:cNvSpPr/>
          <p:nvPr/>
        </p:nvSpPr>
        <p:spPr>
          <a:xfrm>
            <a:off x="4224528" y="2633472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6.8215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37"/>
          <p:cNvSpPr/>
          <p:nvPr/>
        </p:nvSpPr>
        <p:spPr>
          <a:xfrm>
            <a:off x="5248656" y="2633472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F7A4D"/>
                </a:solidFill>
                <a:latin typeface="Noto Sans"/>
                <a:ea typeface="Noto Sans"/>
                <a:cs typeface="Noto Sans"/>
                <a:sym typeface="Noto Sans"/>
              </a:rPr>
              <a:t>6.7232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37"/>
          <p:cNvSpPr/>
          <p:nvPr/>
        </p:nvSpPr>
        <p:spPr>
          <a:xfrm>
            <a:off x="502920" y="3017520"/>
            <a:ext cx="74980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37"/>
          <p:cNvSpPr/>
          <p:nvPr/>
        </p:nvSpPr>
        <p:spPr>
          <a:xfrm>
            <a:off x="1252728" y="3017520"/>
            <a:ext cx="96012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6.8095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37"/>
          <p:cNvSpPr/>
          <p:nvPr/>
        </p:nvSpPr>
        <p:spPr>
          <a:xfrm>
            <a:off x="2212848" y="3017520"/>
            <a:ext cx="987552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6.8509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37"/>
          <p:cNvSpPr/>
          <p:nvPr/>
        </p:nvSpPr>
        <p:spPr>
          <a:xfrm>
            <a:off x="3200400" y="3017520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6.7846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37"/>
          <p:cNvSpPr/>
          <p:nvPr/>
        </p:nvSpPr>
        <p:spPr>
          <a:xfrm>
            <a:off x="4224528" y="3017520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6.6481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37"/>
          <p:cNvSpPr/>
          <p:nvPr/>
        </p:nvSpPr>
        <p:spPr>
          <a:xfrm>
            <a:off x="5248656" y="3017520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F7A4D"/>
                </a:solidFill>
                <a:latin typeface="Noto Sans"/>
                <a:ea typeface="Noto Sans"/>
                <a:cs typeface="Noto Sans"/>
                <a:sym typeface="Noto Sans"/>
              </a:rPr>
              <a:t>6.5833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37"/>
          <p:cNvSpPr/>
          <p:nvPr/>
        </p:nvSpPr>
        <p:spPr>
          <a:xfrm>
            <a:off x="502920" y="3401568"/>
            <a:ext cx="74980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768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37"/>
          <p:cNvSpPr/>
          <p:nvPr/>
        </p:nvSpPr>
        <p:spPr>
          <a:xfrm>
            <a:off x="1252728" y="3401568"/>
            <a:ext cx="96012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6.7181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37"/>
          <p:cNvSpPr/>
          <p:nvPr/>
        </p:nvSpPr>
        <p:spPr>
          <a:xfrm>
            <a:off x="2212848" y="3401568"/>
            <a:ext cx="987552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6.7209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37"/>
          <p:cNvSpPr/>
          <p:nvPr/>
        </p:nvSpPr>
        <p:spPr>
          <a:xfrm>
            <a:off x="3200400" y="3401568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6.6831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37"/>
          <p:cNvSpPr/>
          <p:nvPr/>
        </p:nvSpPr>
        <p:spPr>
          <a:xfrm>
            <a:off x="4224528" y="3401568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6.5672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37"/>
          <p:cNvSpPr/>
          <p:nvPr/>
        </p:nvSpPr>
        <p:spPr>
          <a:xfrm>
            <a:off x="5248656" y="3401568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F7A4D"/>
                </a:solidFill>
                <a:latin typeface="Noto Sans"/>
                <a:ea typeface="Noto Sans"/>
                <a:cs typeface="Noto Sans"/>
                <a:sym typeface="Noto Sans"/>
              </a:rPr>
              <a:t>6.4640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37"/>
          <p:cNvSpPr/>
          <p:nvPr/>
        </p:nvSpPr>
        <p:spPr>
          <a:xfrm>
            <a:off x="502920" y="3785616"/>
            <a:ext cx="74980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37"/>
          <p:cNvSpPr/>
          <p:nvPr/>
        </p:nvSpPr>
        <p:spPr>
          <a:xfrm>
            <a:off x="1252728" y="3785616"/>
            <a:ext cx="96012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6.6120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37"/>
          <p:cNvSpPr/>
          <p:nvPr/>
        </p:nvSpPr>
        <p:spPr>
          <a:xfrm>
            <a:off x="2212848" y="3785616"/>
            <a:ext cx="987552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6.6604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37"/>
          <p:cNvSpPr/>
          <p:nvPr/>
        </p:nvSpPr>
        <p:spPr>
          <a:xfrm>
            <a:off x="3200400" y="3785616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6.6055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37"/>
          <p:cNvSpPr/>
          <p:nvPr/>
        </p:nvSpPr>
        <p:spPr>
          <a:xfrm>
            <a:off x="4224528" y="3785616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6.4775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37"/>
          <p:cNvSpPr/>
          <p:nvPr/>
        </p:nvSpPr>
        <p:spPr>
          <a:xfrm>
            <a:off x="5248656" y="3785616"/>
            <a:ext cx="1024128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F7A4D"/>
                </a:solidFill>
                <a:latin typeface="Noto Sans"/>
                <a:ea typeface="Noto Sans"/>
                <a:cs typeface="Noto Sans"/>
                <a:sym typeface="Noto Sans"/>
              </a:rPr>
              <a:t>6.4437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37"/>
          <p:cNvSpPr/>
          <p:nvPr/>
        </p:nvSpPr>
        <p:spPr>
          <a:xfrm>
            <a:off x="502920" y="4169664"/>
            <a:ext cx="749808" cy="384048"/>
          </a:xfrm>
          <a:prstGeom prst="rect">
            <a:avLst/>
          </a:prstGeom>
          <a:solidFill>
            <a:srgbClr val="E8F1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Avg 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7"/>
          <p:cNvSpPr/>
          <p:nvPr/>
        </p:nvSpPr>
        <p:spPr>
          <a:xfrm>
            <a:off x="1252728" y="4169664"/>
            <a:ext cx="960120" cy="384048"/>
          </a:xfrm>
          <a:prstGeom prst="rect">
            <a:avLst/>
          </a:prstGeom>
          <a:solidFill>
            <a:srgbClr val="E8F1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6.9148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37"/>
          <p:cNvSpPr/>
          <p:nvPr/>
        </p:nvSpPr>
        <p:spPr>
          <a:xfrm>
            <a:off x="2212848" y="4169664"/>
            <a:ext cx="987552" cy="384048"/>
          </a:xfrm>
          <a:prstGeom prst="rect">
            <a:avLst/>
          </a:prstGeom>
          <a:solidFill>
            <a:srgbClr val="E8F1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6.9211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37"/>
          <p:cNvSpPr/>
          <p:nvPr/>
        </p:nvSpPr>
        <p:spPr>
          <a:xfrm>
            <a:off x="3200400" y="4169664"/>
            <a:ext cx="1024128" cy="384048"/>
          </a:xfrm>
          <a:prstGeom prst="rect">
            <a:avLst/>
          </a:prstGeom>
          <a:solidFill>
            <a:srgbClr val="E8F1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6.8659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7"/>
          <p:cNvSpPr/>
          <p:nvPr/>
        </p:nvSpPr>
        <p:spPr>
          <a:xfrm>
            <a:off x="4224528" y="4169664"/>
            <a:ext cx="1024128" cy="384048"/>
          </a:xfrm>
          <a:prstGeom prst="rect">
            <a:avLst/>
          </a:prstGeom>
          <a:solidFill>
            <a:srgbClr val="E8F1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6.7529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37"/>
          <p:cNvSpPr/>
          <p:nvPr/>
        </p:nvSpPr>
        <p:spPr>
          <a:xfrm>
            <a:off x="5248656" y="4169664"/>
            <a:ext cx="1024128" cy="384048"/>
          </a:xfrm>
          <a:prstGeom prst="rect">
            <a:avLst/>
          </a:prstGeom>
          <a:solidFill>
            <a:srgbClr val="E8F1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1" i="0" lang="en-US" sz="86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6.6762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37"/>
          <p:cNvSpPr/>
          <p:nvPr/>
        </p:nvSpPr>
        <p:spPr>
          <a:xfrm>
            <a:off x="6720840" y="1417320"/>
            <a:ext cx="5074920" cy="3154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ntropy_vs_nfe.png" id="865" name="Google Shape;86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3077" y="1453896"/>
            <a:ext cx="4930444" cy="3081528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37"/>
          <p:cNvSpPr/>
          <p:nvPr/>
        </p:nvSpPr>
        <p:spPr>
          <a:xfrm>
            <a:off x="6903720" y="4709160"/>
            <a:ext cx="4663440" cy="640080"/>
          </a:xfrm>
          <a:prstGeom prst="rect">
            <a:avLst/>
          </a:prstGeom>
          <a:solidFill>
            <a:srgbClr val="E8F1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18275" lIns="73150" spcFirstLastPara="1" rIns="731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平均 entropy：MDLM 6.9148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SDC 0.3 6.6762，分佈更集中。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37"/>
          <p:cNvSpPr/>
          <p:nvPr/>
        </p:nvSpPr>
        <p:spPr>
          <a:xfrm>
            <a:off x="685800" y="5897880"/>
            <a:ext cx="10515600" cy="3200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18275" lIns="36575" spcFirstLastPara="1" rIns="365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觀察：Conf. 0.3 的選詞最集中；需搭配 GenPPL 一起解讀，避免只看集中程度而忽略多樣性。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37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35/42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8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38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18275" lIns="36575" spcFirstLastPara="1" rIns="365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Part4: Experiment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38"/>
          <p:cNvSpPr/>
          <p:nvPr/>
        </p:nvSpPr>
        <p:spPr>
          <a:xfrm>
            <a:off x="411480" y="530352"/>
            <a:ext cx="6583680" cy="292608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18275" lIns="36575" spcFirstLastPara="1" rIns="365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Quality–Diversity: Entropy vs. GenPPL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38"/>
          <p:cNvSpPr/>
          <p:nvPr/>
        </p:nvSpPr>
        <p:spPr>
          <a:xfrm>
            <a:off x="411480" y="896112"/>
            <a:ext cx="566928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gradFill>
            <a:gsLst>
              <a:gs pos="0">
                <a:srgbClr val="306CD7"/>
              </a:gs>
              <a:gs pos="100000">
                <a:srgbClr val="90B0FF"/>
              </a:gs>
            </a:gsLst>
            <a:lin ang="16200000" scaled="0"/>
          </a:gradFill>
          <a:ln cap="flat" cmpd="sng" w="1270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38"/>
          <p:cNvSpPr/>
          <p:nvPr/>
        </p:nvSpPr>
        <p:spPr>
          <a:xfrm>
            <a:off x="411480" y="896112"/>
            <a:ext cx="201168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gradFill>
            <a:gsLst>
              <a:gs pos="0">
                <a:srgbClr val="306CD7"/>
              </a:gs>
              <a:gs pos="100000">
                <a:srgbClr val="90B0FF"/>
              </a:gs>
            </a:gsLst>
            <a:lin ang="16200000" scaled="0"/>
          </a:gradFill>
          <a:ln cap="flat" cmpd="sng" w="254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38"/>
          <p:cNvSpPr/>
          <p:nvPr/>
        </p:nvSpPr>
        <p:spPr>
          <a:xfrm>
            <a:off x="685800" y="1024128"/>
            <a:ext cx="10789920" cy="3200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18275" lIns="36575" spcFirstLastPara="1" rIns="365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同時觀察 GenPPL 與 entropy，可判斷 SDC 是否在提升品質的同時改變生成多樣性。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38"/>
          <p:cNvSpPr/>
          <p:nvPr/>
        </p:nvSpPr>
        <p:spPr>
          <a:xfrm>
            <a:off x="594360" y="1417320"/>
            <a:ext cx="7863840" cy="4434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ntropy_genppl_curve.png" id="880" name="Google Shape;88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6929" y="1453896"/>
            <a:ext cx="6978700" cy="4361688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38"/>
          <p:cNvSpPr/>
          <p:nvPr/>
        </p:nvSpPr>
        <p:spPr>
          <a:xfrm>
            <a:off x="8732520" y="1417320"/>
            <a:ext cx="2743200" cy="914400"/>
          </a:xfrm>
          <a:prstGeom prst="rect">
            <a:avLst/>
          </a:prstGeom>
          <a:solidFill>
            <a:srgbClr val="E8F1F6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18275" lIns="73150" spcFirstLastPara="1" rIns="731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GenPPL 越低越好；entropy 越高代表生成分佈較分散。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38"/>
          <p:cNvSpPr/>
          <p:nvPr/>
        </p:nvSpPr>
        <p:spPr>
          <a:xfrm>
            <a:off x="8732520" y="2606040"/>
            <a:ext cx="274320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18275" lIns="73150" spcFirstLastPara="1" rIns="731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主要趨勢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SDC 將曲線往低 GenPPL 移動，代表生成文字更自然。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38"/>
          <p:cNvSpPr/>
          <p:nvPr/>
        </p:nvSpPr>
        <p:spPr>
          <a:xfrm>
            <a:off x="8732520" y="3931920"/>
            <a:ext cx="274320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18275" lIns="73150" spcFirstLastPara="1" rIns="73150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取捨關係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高信心設定下 entropy 下降，表示模型選詞更集中、更保守。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38"/>
          <p:cNvSpPr/>
          <p:nvPr/>
        </p:nvSpPr>
        <p:spPr>
          <a:xfrm>
            <a:off x="685800" y="5897880"/>
            <a:ext cx="10515600" cy="32004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18275" lIns="36575" spcFirstLastPara="1" rIns="36575" wrap="square" tIns="18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結論：Conf. 0.3 在這組測試中取得最好的 GenPPL，但也伴隨較低 entropy；可視需求選擇品質或多樣性取向。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38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36/42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39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Part4: Experiment results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3" name="Google Shape;893;p39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Model comparison — Standard Perplexity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4" name="Google Shape;894;p39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37/42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5" name="Google Shape;895;p39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6" name="Google Shape;896;p39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7" name="Google Shape;897;p39"/>
          <p:cNvSpPr/>
          <p:nvPr/>
        </p:nvSpPr>
        <p:spPr>
          <a:xfrm>
            <a:off x="685800" y="103327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450"/>
              <a:buFont typeface="Noto Sans"/>
              <a:buNone/>
            </a:pPr>
            <a:r>
              <a:rPr b="1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比較 SDC、LCM 與原始 MDLM 的 Perplexity 表現。</a:t>
            </a:r>
            <a:endParaRPr b="0" i="0" sz="14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8" name="Google Shape;898;p39"/>
          <p:cNvSpPr/>
          <p:nvPr/>
        </p:nvSpPr>
        <p:spPr>
          <a:xfrm>
            <a:off x="914400" y="1508760"/>
            <a:ext cx="2011680" cy="64008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Noto Sans"/>
              <a:buNone/>
            </a:pPr>
            <a:r>
              <a:rPr b="1" i="0" lang="en-US" sz="104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Dataset</a:t>
            </a:r>
            <a:endParaRPr b="0" i="0" sz="10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9" name="Google Shape;899;p39"/>
          <p:cNvSpPr/>
          <p:nvPr/>
        </p:nvSpPr>
        <p:spPr>
          <a:xfrm>
            <a:off x="2926080" y="1508760"/>
            <a:ext cx="2743200" cy="64008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Noto Sans"/>
              <a:buNone/>
            </a:pPr>
            <a:r>
              <a:rPr b="1" i="0" lang="en-US" sz="104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mdlm</a:t>
            </a:r>
            <a:endParaRPr b="0" i="0" sz="10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Noto Sans"/>
              <a:buNone/>
            </a:pPr>
            <a:r>
              <a:rPr b="1" i="0" lang="en-US" sz="104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(origin)</a:t>
            </a:r>
            <a:endParaRPr b="0" i="0" sz="10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0" name="Google Shape;900;p39"/>
          <p:cNvSpPr/>
          <p:nvPr/>
        </p:nvSpPr>
        <p:spPr>
          <a:xfrm>
            <a:off x="5669280" y="1508760"/>
            <a:ext cx="2788920" cy="64008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Noto Sans"/>
              <a:buNone/>
            </a:pPr>
            <a:r>
              <a:rPr b="1" i="0" lang="en-US" sz="104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mdlm-sdc</a:t>
            </a:r>
            <a:endParaRPr b="0" i="0" sz="10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Noto Sans"/>
              <a:buNone/>
            </a:pPr>
            <a:r>
              <a:rPr b="1" i="0" lang="en-US" sz="104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(no confidence)</a:t>
            </a:r>
            <a:endParaRPr b="0" i="0" sz="10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1" name="Google Shape;901;p39"/>
          <p:cNvSpPr/>
          <p:nvPr/>
        </p:nvSpPr>
        <p:spPr>
          <a:xfrm>
            <a:off x="8458200" y="1508760"/>
            <a:ext cx="2788920" cy="64008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Noto Sans"/>
              <a:buNone/>
            </a:pPr>
            <a:r>
              <a:rPr b="1" i="0" lang="en-US" sz="104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mdlm-lcm</a:t>
            </a:r>
            <a:endParaRPr b="0" i="0" sz="10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Noto Sans"/>
              <a:buNone/>
            </a:pPr>
            <a:r>
              <a:rPr b="1" i="0" lang="en-US" sz="104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(no confidence)</a:t>
            </a:r>
            <a:endParaRPr b="0" i="0" sz="104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2" name="Google Shape;902;p39"/>
          <p:cNvSpPr/>
          <p:nvPr/>
        </p:nvSpPr>
        <p:spPr>
          <a:xfrm>
            <a:off x="914400" y="2148840"/>
            <a:ext cx="201168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1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OWT</a:t>
            </a:r>
            <a:endParaRPr b="0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3" name="Google Shape;903;p39"/>
          <p:cNvSpPr/>
          <p:nvPr/>
        </p:nvSpPr>
        <p:spPr>
          <a:xfrm>
            <a:off x="2926080" y="2148840"/>
            <a:ext cx="27432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0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42.300 ± 0.407</a:t>
            </a:r>
            <a:endParaRPr b="0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4" name="Google Shape;904;p39"/>
          <p:cNvSpPr/>
          <p:nvPr/>
        </p:nvSpPr>
        <p:spPr>
          <a:xfrm>
            <a:off x="5669280" y="2148840"/>
            <a:ext cx="278892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1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41.435 ± 0.072</a:t>
            </a:r>
            <a:endParaRPr b="1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5" name="Google Shape;905;p39"/>
          <p:cNvSpPr/>
          <p:nvPr/>
        </p:nvSpPr>
        <p:spPr>
          <a:xfrm>
            <a:off x="8458200" y="2148840"/>
            <a:ext cx="278892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0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42.702 ± 0.027</a:t>
            </a:r>
            <a:endParaRPr b="0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6" name="Google Shape;906;p39"/>
          <p:cNvSpPr/>
          <p:nvPr/>
        </p:nvSpPr>
        <p:spPr>
          <a:xfrm>
            <a:off x="914400" y="2788920"/>
            <a:ext cx="201168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1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arXiv</a:t>
            </a:r>
            <a:endParaRPr b="0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7" name="Google Shape;907;p39"/>
          <p:cNvSpPr/>
          <p:nvPr/>
        </p:nvSpPr>
        <p:spPr>
          <a:xfrm>
            <a:off x="2926080" y="2788920"/>
            <a:ext cx="274320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0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64.861 ± 0.809</a:t>
            </a:r>
            <a:endParaRPr b="0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8" name="Google Shape;908;p39"/>
          <p:cNvSpPr/>
          <p:nvPr/>
        </p:nvSpPr>
        <p:spPr>
          <a:xfrm>
            <a:off x="5669280" y="2788920"/>
            <a:ext cx="278892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1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61.265 ± 0.486</a:t>
            </a:r>
            <a:endParaRPr b="1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9" name="Google Shape;909;p39"/>
          <p:cNvSpPr/>
          <p:nvPr/>
        </p:nvSpPr>
        <p:spPr>
          <a:xfrm>
            <a:off x="8458200" y="2788920"/>
            <a:ext cx="278892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0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70.532 ± 0.125</a:t>
            </a:r>
            <a:endParaRPr b="0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0" name="Google Shape;910;p39"/>
          <p:cNvSpPr/>
          <p:nvPr/>
        </p:nvSpPr>
        <p:spPr>
          <a:xfrm>
            <a:off x="914400" y="3429000"/>
            <a:ext cx="201168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1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WikiText103</a:t>
            </a:r>
            <a:endParaRPr b="0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1" name="Google Shape;911;p39"/>
          <p:cNvSpPr/>
          <p:nvPr/>
        </p:nvSpPr>
        <p:spPr>
          <a:xfrm>
            <a:off x="2926080" y="3429000"/>
            <a:ext cx="27432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0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71.035 ± 1.881</a:t>
            </a:r>
            <a:endParaRPr b="0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2" name="Google Shape;912;p39"/>
          <p:cNvSpPr/>
          <p:nvPr/>
        </p:nvSpPr>
        <p:spPr>
          <a:xfrm>
            <a:off x="5669280" y="3429000"/>
            <a:ext cx="278892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1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70.213 ± 1.546</a:t>
            </a:r>
            <a:endParaRPr b="1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3" name="Google Shape;913;p39"/>
          <p:cNvSpPr/>
          <p:nvPr/>
        </p:nvSpPr>
        <p:spPr>
          <a:xfrm>
            <a:off x="8458200" y="3429000"/>
            <a:ext cx="278892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0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71.466 ± 1.762</a:t>
            </a:r>
            <a:endParaRPr b="0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4" name="Google Shape;914;p39"/>
          <p:cNvSpPr/>
          <p:nvPr/>
        </p:nvSpPr>
        <p:spPr>
          <a:xfrm>
            <a:off x="914400" y="4069080"/>
            <a:ext cx="201168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1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LAMBADA</a:t>
            </a:r>
            <a:endParaRPr b="0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5" name="Google Shape;915;p39"/>
          <p:cNvSpPr/>
          <p:nvPr/>
        </p:nvSpPr>
        <p:spPr>
          <a:xfrm>
            <a:off x="2926080" y="4069080"/>
            <a:ext cx="274320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0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73.877 ± 1.500</a:t>
            </a:r>
            <a:endParaRPr b="0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6" name="Google Shape;916;p39"/>
          <p:cNvSpPr/>
          <p:nvPr/>
        </p:nvSpPr>
        <p:spPr>
          <a:xfrm>
            <a:off x="5669280" y="4069080"/>
            <a:ext cx="278892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1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72.411 ± 1.008</a:t>
            </a:r>
            <a:endParaRPr b="1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7" name="Google Shape;917;p39"/>
          <p:cNvSpPr/>
          <p:nvPr/>
        </p:nvSpPr>
        <p:spPr>
          <a:xfrm>
            <a:off x="8458200" y="4069080"/>
            <a:ext cx="278892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0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73.143 ± 1.166</a:t>
            </a:r>
            <a:endParaRPr b="0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8" name="Google Shape;918;p39"/>
          <p:cNvSpPr/>
          <p:nvPr/>
        </p:nvSpPr>
        <p:spPr>
          <a:xfrm>
            <a:off x="914400" y="4709160"/>
            <a:ext cx="201168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1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PTB</a:t>
            </a:r>
            <a:endParaRPr b="0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9" name="Google Shape;919;p39"/>
          <p:cNvSpPr/>
          <p:nvPr/>
        </p:nvSpPr>
        <p:spPr>
          <a:xfrm>
            <a:off x="2926080" y="4709160"/>
            <a:ext cx="27432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0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220.247 ± 8.723</a:t>
            </a:r>
            <a:endParaRPr b="0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0" name="Google Shape;920;p39"/>
          <p:cNvSpPr/>
          <p:nvPr/>
        </p:nvSpPr>
        <p:spPr>
          <a:xfrm>
            <a:off x="5669280" y="4709160"/>
            <a:ext cx="278892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1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214.873 ± 8.697</a:t>
            </a:r>
            <a:endParaRPr b="1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1" name="Google Shape;921;p39"/>
          <p:cNvSpPr/>
          <p:nvPr/>
        </p:nvSpPr>
        <p:spPr>
          <a:xfrm>
            <a:off x="8458200" y="4709160"/>
            <a:ext cx="278892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0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225.034 ± 7.408</a:t>
            </a:r>
            <a:endParaRPr b="0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2" name="Google Shape;922;p39"/>
          <p:cNvSpPr/>
          <p:nvPr/>
        </p:nvSpPr>
        <p:spPr>
          <a:xfrm>
            <a:off x="914400" y="5349240"/>
            <a:ext cx="201168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1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PubMed</a:t>
            </a:r>
            <a:endParaRPr b="0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3" name="Google Shape;923;p39"/>
          <p:cNvSpPr/>
          <p:nvPr/>
        </p:nvSpPr>
        <p:spPr>
          <a:xfrm>
            <a:off x="2926080" y="5349240"/>
            <a:ext cx="274320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0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81.228 ± 1.149</a:t>
            </a:r>
            <a:endParaRPr b="0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4" name="Google Shape;924;p39"/>
          <p:cNvSpPr/>
          <p:nvPr/>
        </p:nvSpPr>
        <p:spPr>
          <a:xfrm>
            <a:off x="5669280" y="5349240"/>
            <a:ext cx="278892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1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76.616 ± 0.601</a:t>
            </a:r>
            <a:endParaRPr b="1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5" name="Google Shape;925;p39"/>
          <p:cNvSpPr/>
          <p:nvPr/>
        </p:nvSpPr>
        <p:spPr>
          <a:xfrm>
            <a:off x="8458200" y="5349240"/>
            <a:ext cx="278892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014"/>
              <a:buFont typeface="Noto Sans"/>
              <a:buNone/>
            </a:pPr>
            <a:r>
              <a:rPr b="0" i="0" lang="en-US" sz="101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88.016 ± 0.216</a:t>
            </a:r>
            <a:endParaRPr b="0" i="0" sz="101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40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40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Part4: Experiment results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3" name="Google Shape;933;p40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Model comparison — Generative Perplexity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4" name="Google Shape;934;p40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38/42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5" name="Google Shape;935;p40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6" name="Google Shape;936;p40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7" name="Google Shape;937;p40"/>
          <p:cNvSpPr/>
          <p:nvPr/>
        </p:nvSpPr>
        <p:spPr>
          <a:xfrm>
            <a:off x="685800" y="1033272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450"/>
              <a:buFont typeface="Noto Sans"/>
              <a:buNone/>
            </a:pPr>
            <a:r>
              <a:rPr b="1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比較 SDC、LCM 與原始 MDLM 的 Generative Perplexity 表現。</a:t>
            </a:r>
            <a:endParaRPr b="0" i="0" sz="14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8" name="Google Shape;938;p40"/>
          <p:cNvSpPr/>
          <p:nvPr/>
        </p:nvSpPr>
        <p:spPr>
          <a:xfrm>
            <a:off x="777240" y="1508760"/>
            <a:ext cx="1600200" cy="64008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0"/>
              <a:buFont typeface="Noto Sans"/>
              <a:buNone/>
            </a:pPr>
            <a:r>
              <a:rPr b="1" i="0" lang="en-US" sz="101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Sampling</a:t>
            </a:r>
            <a:endParaRPr b="0" i="0" sz="10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0"/>
              <a:buFont typeface="Noto Sans"/>
              <a:buNone/>
            </a:pPr>
            <a:r>
              <a:rPr b="1" i="0" lang="en-US" sz="101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Steps</a:t>
            </a:r>
            <a:endParaRPr b="0" i="0" sz="10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9" name="Google Shape;939;p40"/>
          <p:cNvSpPr/>
          <p:nvPr/>
        </p:nvSpPr>
        <p:spPr>
          <a:xfrm>
            <a:off x="2377440" y="1508760"/>
            <a:ext cx="2926080" cy="64008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0"/>
              <a:buFont typeface="Noto Sans"/>
              <a:buNone/>
            </a:pPr>
            <a:r>
              <a:rPr b="1" i="0" lang="en-US" sz="101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mdlm</a:t>
            </a:r>
            <a:endParaRPr b="0" i="0" sz="10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0"/>
              <a:buFont typeface="Noto Sans"/>
              <a:buNone/>
            </a:pPr>
            <a:r>
              <a:rPr b="1" i="0" lang="en-US" sz="101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(origin)</a:t>
            </a:r>
            <a:endParaRPr b="0" i="0" sz="10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0" name="Google Shape;940;p40"/>
          <p:cNvSpPr/>
          <p:nvPr/>
        </p:nvSpPr>
        <p:spPr>
          <a:xfrm>
            <a:off x="5303520" y="1508760"/>
            <a:ext cx="3063240" cy="64008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0"/>
              <a:buFont typeface="Noto Sans"/>
              <a:buNone/>
            </a:pPr>
            <a:r>
              <a:rPr b="1" i="0" lang="en-US" sz="101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mdlm-sdc</a:t>
            </a:r>
            <a:endParaRPr b="0" i="0" sz="10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0"/>
              <a:buFont typeface="Noto Sans"/>
              <a:buNone/>
            </a:pPr>
            <a:r>
              <a:rPr b="1" i="0" lang="en-US" sz="101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(no confidence)</a:t>
            </a:r>
            <a:endParaRPr b="0" i="0" sz="10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1" name="Google Shape;941;p40"/>
          <p:cNvSpPr/>
          <p:nvPr/>
        </p:nvSpPr>
        <p:spPr>
          <a:xfrm>
            <a:off x="8366760" y="1508760"/>
            <a:ext cx="3063240" cy="640080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0"/>
              <a:buFont typeface="Noto Sans"/>
              <a:buNone/>
            </a:pPr>
            <a:r>
              <a:rPr b="1" i="0" lang="en-US" sz="101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mdlm-lcm</a:t>
            </a:r>
            <a:endParaRPr b="0" i="0" sz="10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0"/>
              <a:buFont typeface="Noto Sans"/>
              <a:buNone/>
            </a:pPr>
            <a:r>
              <a:rPr b="1" i="0" lang="en-US" sz="101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(no confidence)</a:t>
            </a:r>
            <a:endParaRPr b="0" i="0" sz="101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2" name="Google Shape;942;p40"/>
          <p:cNvSpPr/>
          <p:nvPr/>
        </p:nvSpPr>
        <p:spPr>
          <a:xfrm>
            <a:off x="777240" y="2148840"/>
            <a:ext cx="16002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1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64</a:t>
            </a:r>
            <a:endParaRPr b="0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3" name="Google Shape;943;p40"/>
          <p:cNvSpPr/>
          <p:nvPr/>
        </p:nvSpPr>
        <p:spPr>
          <a:xfrm>
            <a:off x="2377440" y="2148840"/>
            <a:ext cx="292608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0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131.6038 ± 1.9727</a:t>
            </a:r>
            <a:endParaRPr b="0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4" name="Google Shape;944;p40"/>
          <p:cNvSpPr/>
          <p:nvPr/>
        </p:nvSpPr>
        <p:spPr>
          <a:xfrm>
            <a:off x="5303520" y="2148840"/>
            <a:ext cx="306324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1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123.5861 ± 2.5735</a:t>
            </a:r>
            <a:endParaRPr b="1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5" name="Google Shape;945;p40"/>
          <p:cNvSpPr/>
          <p:nvPr/>
        </p:nvSpPr>
        <p:spPr>
          <a:xfrm>
            <a:off x="8366760" y="2148840"/>
            <a:ext cx="306324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0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137.3058</a:t>
            </a:r>
            <a:endParaRPr b="0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6" name="Google Shape;946;p40"/>
          <p:cNvSpPr/>
          <p:nvPr/>
        </p:nvSpPr>
        <p:spPr>
          <a:xfrm>
            <a:off x="777240" y="2788920"/>
            <a:ext cx="160020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1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128</a:t>
            </a:r>
            <a:endParaRPr b="0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7" name="Google Shape;947;p40"/>
          <p:cNvSpPr/>
          <p:nvPr/>
        </p:nvSpPr>
        <p:spPr>
          <a:xfrm>
            <a:off x="2377440" y="2788920"/>
            <a:ext cx="292608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0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106.5936 ± 1.8209</a:t>
            </a:r>
            <a:endParaRPr b="0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8" name="Google Shape;948;p40"/>
          <p:cNvSpPr/>
          <p:nvPr/>
        </p:nvSpPr>
        <p:spPr>
          <a:xfrm>
            <a:off x="5303520" y="2788920"/>
            <a:ext cx="306324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1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101.4923 ± 2.0223</a:t>
            </a:r>
            <a:endParaRPr b="1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9" name="Google Shape;949;p40"/>
          <p:cNvSpPr/>
          <p:nvPr/>
        </p:nvSpPr>
        <p:spPr>
          <a:xfrm>
            <a:off x="8366760" y="2788920"/>
            <a:ext cx="306324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0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111.2086</a:t>
            </a:r>
            <a:endParaRPr b="0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0" name="Google Shape;950;p40"/>
          <p:cNvSpPr/>
          <p:nvPr/>
        </p:nvSpPr>
        <p:spPr>
          <a:xfrm>
            <a:off x="777240" y="3429000"/>
            <a:ext cx="16002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1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256</a:t>
            </a:r>
            <a:endParaRPr b="0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1" name="Google Shape;951;p40"/>
          <p:cNvSpPr/>
          <p:nvPr/>
        </p:nvSpPr>
        <p:spPr>
          <a:xfrm>
            <a:off x="2377440" y="3429000"/>
            <a:ext cx="292608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0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89.6267 ± 1.6228</a:t>
            </a:r>
            <a:endParaRPr b="0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2" name="Google Shape;952;p40"/>
          <p:cNvSpPr/>
          <p:nvPr/>
        </p:nvSpPr>
        <p:spPr>
          <a:xfrm>
            <a:off x="5303520" y="3429000"/>
            <a:ext cx="306324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1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83.6969 ± 0.5350</a:t>
            </a:r>
            <a:endParaRPr b="1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3" name="Google Shape;953;p40"/>
          <p:cNvSpPr/>
          <p:nvPr/>
        </p:nvSpPr>
        <p:spPr>
          <a:xfrm>
            <a:off x="8366760" y="3429000"/>
            <a:ext cx="306324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0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89.9336</a:t>
            </a:r>
            <a:endParaRPr b="0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4" name="Google Shape;954;p40"/>
          <p:cNvSpPr/>
          <p:nvPr/>
        </p:nvSpPr>
        <p:spPr>
          <a:xfrm>
            <a:off x="777240" y="4069080"/>
            <a:ext cx="160020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1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512</a:t>
            </a:r>
            <a:endParaRPr b="0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5" name="Google Shape;955;p40"/>
          <p:cNvSpPr/>
          <p:nvPr/>
        </p:nvSpPr>
        <p:spPr>
          <a:xfrm>
            <a:off x="2377440" y="4069080"/>
            <a:ext cx="292608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0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70.6978 ± 0.5976</a:t>
            </a:r>
            <a:endParaRPr b="0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6" name="Google Shape;956;p40"/>
          <p:cNvSpPr/>
          <p:nvPr/>
        </p:nvSpPr>
        <p:spPr>
          <a:xfrm>
            <a:off x="5303520" y="4069080"/>
            <a:ext cx="306324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1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67.0191 ± 1.5393</a:t>
            </a:r>
            <a:endParaRPr b="1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7" name="Google Shape;957;p40"/>
          <p:cNvSpPr/>
          <p:nvPr/>
        </p:nvSpPr>
        <p:spPr>
          <a:xfrm>
            <a:off x="8366760" y="4069080"/>
            <a:ext cx="306324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0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71.3349</a:t>
            </a:r>
            <a:endParaRPr b="0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8" name="Google Shape;958;p40"/>
          <p:cNvSpPr/>
          <p:nvPr/>
        </p:nvSpPr>
        <p:spPr>
          <a:xfrm>
            <a:off x="777240" y="4709160"/>
            <a:ext cx="160020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1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768</a:t>
            </a:r>
            <a:endParaRPr b="0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9" name="Google Shape;959;p40"/>
          <p:cNvSpPr/>
          <p:nvPr/>
        </p:nvSpPr>
        <p:spPr>
          <a:xfrm>
            <a:off x="2377440" y="4709160"/>
            <a:ext cx="292608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0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61.9102 ± 0.6407</a:t>
            </a:r>
            <a:endParaRPr b="0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0" name="Google Shape;960;p40"/>
          <p:cNvSpPr/>
          <p:nvPr/>
        </p:nvSpPr>
        <p:spPr>
          <a:xfrm>
            <a:off x="5303520" y="4709160"/>
            <a:ext cx="306324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1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60.9143 ± 1.2465</a:t>
            </a:r>
            <a:endParaRPr b="1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1" name="Google Shape;961;p40"/>
          <p:cNvSpPr/>
          <p:nvPr/>
        </p:nvSpPr>
        <p:spPr>
          <a:xfrm>
            <a:off x="8366760" y="4709160"/>
            <a:ext cx="3063240" cy="640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0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63.7963</a:t>
            </a:r>
            <a:endParaRPr b="0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2" name="Google Shape;962;p40"/>
          <p:cNvSpPr/>
          <p:nvPr/>
        </p:nvSpPr>
        <p:spPr>
          <a:xfrm>
            <a:off x="777240" y="5349240"/>
            <a:ext cx="160020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1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1024</a:t>
            </a:r>
            <a:endParaRPr b="0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3" name="Google Shape;963;p40"/>
          <p:cNvSpPr/>
          <p:nvPr/>
        </p:nvSpPr>
        <p:spPr>
          <a:xfrm>
            <a:off x="2377440" y="5349240"/>
            <a:ext cx="292608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0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57.5199 ± 0.4667</a:t>
            </a:r>
            <a:endParaRPr b="0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4" name="Google Shape;964;p40"/>
          <p:cNvSpPr/>
          <p:nvPr/>
        </p:nvSpPr>
        <p:spPr>
          <a:xfrm>
            <a:off x="5303520" y="5349240"/>
            <a:ext cx="306324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1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54.0217 ± 0.8928</a:t>
            </a:r>
            <a:endParaRPr b="1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5" name="Google Shape;965;p40"/>
          <p:cNvSpPr/>
          <p:nvPr/>
        </p:nvSpPr>
        <p:spPr>
          <a:xfrm>
            <a:off x="8366760" y="5349240"/>
            <a:ext cx="3063240" cy="640080"/>
          </a:xfrm>
          <a:prstGeom prst="rect">
            <a:avLst/>
          </a:prstGeom>
          <a:solidFill>
            <a:srgbClr val="F7FAFC"/>
          </a:solidFill>
          <a:ln cap="flat" cmpd="sng" w="9525">
            <a:solidFill>
              <a:srgbClr val="D2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985"/>
              <a:buFont typeface="Noto Sans"/>
              <a:buNone/>
            </a:pPr>
            <a:r>
              <a:rPr b="0" i="0" lang="en-US" sz="985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57.0964</a:t>
            </a:r>
            <a:endParaRPr b="0" i="0" sz="985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4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41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Part4: Experiment results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3" name="Google Shape;973;p41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Summary of findings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4" name="Google Shape;974;p41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39/42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5" name="Google Shape;975;p41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6" name="Google Shape;976;p41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7" name="Google Shape;977;p41"/>
          <p:cNvSpPr/>
          <p:nvPr/>
        </p:nvSpPr>
        <p:spPr>
          <a:xfrm>
            <a:off x="868680" y="1645920"/>
            <a:ext cx="2971800" cy="960120"/>
          </a:xfrm>
          <a:prstGeom prst="rect">
            <a:avLst/>
          </a:prstGeom>
          <a:solidFill>
            <a:srgbClr val="E7F0F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Standard PPL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generalization avg. improves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41"/>
          <p:cNvSpPr/>
          <p:nvPr/>
        </p:nvSpPr>
        <p:spPr>
          <a:xfrm>
            <a:off x="4617720" y="1645920"/>
            <a:ext cx="2971800" cy="960120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GenPPL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all sampling steps improve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9" name="Google Shape;979;p41"/>
          <p:cNvSpPr/>
          <p:nvPr/>
        </p:nvSpPr>
        <p:spPr>
          <a:xfrm>
            <a:off x="8366760" y="1645920"/>
            <a:ext cx="2971800" cy="960120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Only training objective changed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architecture unchanged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41"/>
          <p:cNvSpPr/>
          <p:nvPr/>
        </p:nvSpPr>
        <p:spPr>
          <a:xfrm>
            <a:off x="868680" y="3520440"/>
            <a:ext cx="10469880" cy="594360"/>
          </a:xfrm>
          <a:prstGeom prst="rect">
            <a:avLst/>
          </a:prstGeom>
          <a:solidFill>
            <a:srgbClr val="F7FBFE"/>
          </a:solidFill>
          <a:ln cap="flat" cmpd="sng" w="15225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600"/>
              <a:buFont typeface="Noto Sans"/>
              <a:buNone/>
            </a:pPr>
            <a:r>
              <a:rPr b="0" i="0" lang="en-US" sz="16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SDC 的主要效果：降低不同遮罩比例下的預測差異，讓高遮罩情境下的生成更穩定。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1" name="Google Shape;981;p41"/>
          <p:cNvSpPr/>
          <p:nvPr/>
        </p:nvSpPr>
        <p:spPr>
          <a:xfrm>
            <a:off x="914400" y="4663440"/>
            <a:ext cx="10241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54850" spcFirstLastPara="1" rIns="54850" wrap="square" tIns="27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420"/>
              <a:buFont typeface="Noto Sans"/>
              <a:buNone/>
            </a:pPr>
            <a:r>
              <a:rPr b="0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PPL 結果顯示 SDC 在泛化資料集平均改善為正，最佳平均為 Conf. 0.1。</a:t>
            </a:r>
            <a:endParaRPr b="0" i="0" sz="14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GenPPL 結果顯示較高信心門檻能明顯改善生成品質。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整體來看，SDC 更符合 MDLM 的遮罩式 token 預測特性。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2"/>
          <p:cNvSpPr txBox="1"/>
          <p:nvPr/>
        </p:nvSpPr>
        <p:spPr>
          <a:xfrm>
            <a:off x="411480" y="23774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Part4: Experiment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42"/>
          <p:cNvSpPr txBox="1"/>
          <p:nvPr/>
        </p:nvSpPr>
        <p:spPr>
          <a:xfrm>
            <a:off x="411480" y="530352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Discussion — why SDC helps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8" name="Google Shape;988;p42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0150">
            <a:solidFill>
              <a:srgbClr val="23313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89" name="Google Shape;989;p42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3175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90" name="Google Shape;990;p42"/>
          <p:cNvSpPr/>
          <p:nvPr/>
        </p:nvSpPr>
        <p:spPr>
          <a:xfrm>
            <a:off x="0" y="6638544"/>
            <a:ext cx="12191675" cy="219456"/>
          </a:xfrm>
          <a:prstGeom prst="rect">
            <a:avLst/>
          </a:prstGeom>
          <a:solidFill>
            <a:srgbClr val="5D839E"/>
          </a:solidFill>
          <a:ln cap="flat" cmpd="sng" w="9525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42"/>
          <p:cNvSpPr txBox="1"/>
          <p:nvPr/>
        </p:nvSpPr>
        <p:spPr>
          <a:xfrm>
            <a:off x="685800" y="1097280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b="1" i="0" lang="en-US" sz="162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SDC 的改善可理解為：讓模型在不同遮罩比例下保持較一致的判斷，降低高遮罩情境的不穩定性。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42"/>
          <p:cNvSpPr/>
          <p:nvPr/>
        </p:nvSpPr>
        <p:spPr>
          <a:xfrm>
            <a:off x="777240" y="1847088"/>
            <a:ext cx="3063240" cy="1325880"/>
          </a:xfrm>
          <a:prstGeom prst="rect">
            <a:avLst/>
          </a:prstGeom>
          <a:solidFill>
            <a:srgbClr val="E9F4EC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More context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xₛ 保留更多文字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teacher 參考訊號更完整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42"/>
          <p:cNvSpPr/>
          <p:nvPr/>
        </p:nvSpPr>
        <p:spPr>
          <a:xfrm>
            <a:off x="4434840" y="1847088"/>
            <a:ext cx="3063240" cy="1325880"/>
          </a:xfrm>
          <a:prstGeom prst="rect">
            <a:avLst/>
          </a:prstGeom>
          <a:solidFill>
            <a:srgbClr val="F7FBFE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Aligned target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共同遮罩位置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比較的是同一個答案 token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42"/>
          <p:cNvSpPr/>
          <p:nvPr/>
        </p:nvSpPr>
        <p:spPr>
          <a:xfrm>
            <a:off x="8092440" y="1847088"/>
            <a:ext cx="3063240" cy="1325880"/>
          </a:xfrm>
          <a:prstGeom prst="rect">
            <a:avLst/>
          </a:prstGeom>
          <a:solidFill>
            <a:srgbClr val="FFF4D6"/>
          </a:solidFill>
          <a:ln cap="flat" cmpd="sng" w="12700">
            <a:solidFill>
              <a:srgbClr val="C6D8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73150" spcFirstLastPara="1" rIns="73150" wrap="square" tIns="64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Selective reliability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只使用高信心位置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降低錯誤引導風險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42"/>
          <p:cNvSpPr txBox="1"/>
          <p:nvPr/>
        </p:nvSpPr>
        <p:spPr>
          <a:xfrm>
            <a:off x="868680" y="3886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D839E"/>
                </a:solidFill>
                <a:latin typeface="Noto Sans"/>
                <a:ea typeface="Noto Sans"/>
                <a:cs typeface="Noto Sans"/>
                <a:sym typeface="Noto Sans"/>
              </a:rPr>
              <a:t>限制與下一步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42"/>
          <p:cNvSpPr txBox="1"/>
          <p:nvPr/>
        </p:nvSpPr>
        <p:spPr>
          <a:xfrm>
            <a:off x="868680" y="4251960"/>
            <a:ext cx="10058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目前主要測單一模型規模與 OpenWebText 訓練設定。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後續可比較不同遮罩比例、信心門檻與 KL 權重。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也可加入人工評估或 MAUVE，補足 GenPPL 以外的生成品質指標。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42"/>
          <p:cNvSpPr txBox="1"/>
          <p:nvPr/>
        </p:nvSpPr>
        <p:spPr>
          <a:xfrm>
            <a:off x="10835640" y="22860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40/42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43"/>
          <p:cNvSpPr/>
          <p:nvPr/>
        </p:nvSpPr>
        <p:spPr>
          <a:xfrm>
            <a:off x="5367528" y="384048"/>
            <a:ext cx="146304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E2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8039"/>
              </a:srgbClr>
            </a:outerShdw>
          </a:effectLst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839E"/>
              </a:buClr>
              <a:buSzPts val="2600"/>
              <a:buFont typeface="Noto Sans"/>
              <a:buNone/>
            </a:pPr>
            <a:r>
              <a:rPr b="1" i="0" lang="en-US" sz="2600" u="none" cap="none" strike="noStrike">
                <a:solidFill>
                  <a:srgbClr val="5D839E"/>
                </a:solidFill>
                <a:latin typeface="Noto Sans"/>
                <a:ea typeface="Noto Sans"/>
                <a:cs typeface="Noto Sans"/>
                <a:sym typeface="Noto Sans"/>
              </a:rPr>
              <a:t>SDC</a:t>
            </a:r>
            <a:endParaRPr b="0" i="0" sz="2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4" name="Google Shape;1004;p43"/>
          <p:cNvSpPr/>
          <p:nvPr/>
        </p:nvSpPr>
        <p:spPr>
          <a:xfrm>
            <a:off x="0" y="1901952"/>
            <a:ext cx="12191695" cy="1280160"/>
          </a:xfrm>
          <a:prstGeom prst="rect">
            <a:avLst/>
          </a:prstGeom>
          <a:solidFill>
            <a:srgbClr val="5D83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Noto San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Conclusion</a:t>
            </a:r>
            <a:endParaRPr b="0" i="0" sz="3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1005" name="Google Shape;1005;p43"/>
          <p:cNvCxnSpPr/>
          <p:nvPr/>
        </p:nvCxnSpPr>
        <p:spPr>
          <a:xfrm>
            <a:off x="5779008" y="3794760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6" name="Google Shape;1006;p43"/>
          <p:cNvSpPr/>
          <p:nvPr/>
        </p:nvSpPr>
        <p:spPr>
          <a:xfrm>
            <a:off x="5248656" y="4069080"/>
            <a:ext cx="1691640" cy="402336"/>
          </a:xfrm>
          <a:prstGeom prst="rect">
            <a:avLst/>
          </a:prstGeom>
          <a:solidFill>
            <a:srgbClr val="5D839E">
              <a:alpha val="9019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FIVE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7" name="Google Shape;1007;p4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44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5D839E"/>
          </a:solidFill>
          <a:ln cap="flat" cmpd="sng" w="127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44"/>
          <p:cNvSpPr/>
          <p:nvPr/>
        </p:nvSpPr>
        <p:spPr>
          <a:xfrm>
            <a:off x="411480" y="23774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Part5: Conclusion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5" name="Google Shape;1015;p44"/>
          <p:cNvSpPr/>
          <p:nvPr/>
        </p:nvSpPr>
        <p:spPr>
          <a:xfrm>
            <a:off x="411480" y="530352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Conclusion &amp; future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44"/>
          <p:cNvSpPr/>
          <p:nvPr/>
        </p:nvSpPr>
        <p:spPr>
          <a:xfrm>
            <a:off x="10927080" y="2286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42/42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7" name="Google Shape;1017;p44"/>
          <p:cNvCxnSpPr/>
          <p:nvPr/>
        </p:nvCxnSpPr>
        <p:spPr>
          <a:xfrm>
            <a:off x="411480" y="896112"/>
            <a:ext cx="5669280" cy="0"/>
          </a:xfrm>
          <a:prstGeom prst="straightConnector1">
            <a:avLst/>
          </a:prstGeom>
          <a:noFill/>
          <a:ln cap="flat" cmpd="sng" w="13950">
            <a:solidFill>
              <a:srgbClr val="B7C2C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8" name="Google Shape;1018;p44"/>
          <p:cNvCxnSpPr/>
          <p:nvPr/>
        </p:nvCxnSpPr>
        <p:spPr>
          <a:xfrm>
            <a:off x="411480" y="896112"/>
            <a:ext cx="2011680" cy="0"/>
          </a:xfrm>
          <a:prstGeom prst="straightConnector1">
            <a:avLst/>
          </a:prstGeom>
          <a:noFill/>
          <a:ln cap="flat" cmpd="sng" w="50800">
            <a:solidFill>
              <a:srgbClr val="5D83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9" name="Google Shape;1019;p44"/>
          <p:cNvSpPr/>
          <p:nvPr/>
        </p:nvSpPr>
        <p:spPr>
          <a:xfrm>
            <a:off x="777240" y="1188720"/>
            <a:ext cx="106984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313B"/>
              </a:buClr>
              <a:buSzPts val="1500"/>
              <a:buFont typeface="Noto Sans"/>
              <a:buNone/>
            </a:pPr>
            <a:r>
              <a:rPr b="0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本研究提出 SDC，讓 MDLM 在不同遮罩比例下的 token 預測更一致。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SDC 只使用共同遮罩且 teacher 高信心的位置，避免不可靠訊號影響訓練。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實驗結果顯示，SDC 在 PPL 與 GenPPL 上皆能改善原始 MDLM。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3313B"/>
                </a:solidFill>
                <a:latin typeface="Noto Sans"/>
                <a:ea typeface="Noto Sans"/>
                <a:cs typeface="Noto Sans"/>
                <a:sym typeface="Noto Sans"/>
              </a:rPr>
              <a:t>• 未來可進一步測試不同模型規模、資料集、遮罩比例與信心門檻。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